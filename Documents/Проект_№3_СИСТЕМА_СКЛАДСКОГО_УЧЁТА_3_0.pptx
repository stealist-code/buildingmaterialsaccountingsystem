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BE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5787C9-C0DF-4D77-9D21-7444237F9708}" v="2359" dt="2026-05-29T16:48:35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24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5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2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5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8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3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2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90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38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97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84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1" r:id="rId6"/>
    <p:sldLayoutId id="2147483867" r:id="rId7"/>
    <p:sldLayoutId id="2147483868" r:id="rId8"/>
    <p:sldLayoutId id="2147483869" r:id="rId9"/>
    <p:sldLayoutId id="2147483870" r:id="rId10"/>
    <p:sldLayoutId id="214748387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BE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49">
            <a:extLst>
              <a:ext uri="{FF2B5EF4-FFF2-40B4-BE49-F238E27FC236}">
                <a16:creationId xmlns:a16="http://schemas.microsoft.com/office/drawing/2014/main" id="{1A85303E-1D59-4477-A849-22C7FEACD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2648" y="557783"/>
            <a:ext cx="3901736" cy="1870577"/>
          </a:xfrm>
        </p:spPr>
        <p:txBody>
          <a:bodyPr>
            <a:normAutofit fontScale="90000"/>
          </a:bodyPr>
          <a:lstStyle/>
          <a:p>
            <a:r>
              <a:rPr lang="ru-RU" sz="6000">
                <a:solidFill>
                  <a:srgbClr val="FFFFFF"/>
                </a:solidFill>
                <a:cs typeface="Posterama"/>
              </a:rPr>
              <a:t>Проект №3 </a:t>
            </a:r>
            <a:endParaRPr lang="ru-RU" sz="6000">
              <a:solidFill>
                <a:srgbClr val="FFFFFF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54386" y="3105037"/>
            <a:ext cx="4212397" cy="100960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ctr"/>
            <a:r>
              <a:rPr lang="ru-RU" sz="2800" b="1">
                <a:solidFill>
                  <a:srgbClr val="FFFFFF"/>
                </a:solidFill>
                <a:latin typeface="Posterama"/>
                <a:ea typeface="+mn-lt"/>
                <a:cs typeface="Posterama"/>
              </a:rPr>
              <a:t>«</a:t>
            </a:r>
            <a:r>
              <a:rPr lang="ru-RU" sz="2800" b="1">
                <a:solidFill>
                  <a:srgbClr val="FFFFFF"/>
                </a:solidFill>
                <a:latin typeface="Posterama"/>
                <a:cs typeface="Posterama"/>
              </a:rPr>
              <a:t>Система складского </a:t>
            </a:r>
            <a:r>
              <a:rPr lang="ru-RU" sz="2800" b="1" dirty="0">
                <a:solidFill>
                  <a:srgbClr val="FFFFFF"/>
                </a:solidFill>
                <a:latin typeface="Posterama"/>
                <a:cs typeface="Posterama"/>
              </a:rPr>
              <a:t>учёта 3.0»</a:t>
            </a:r>
          </a:p>
          <a:p>
            <a:endParaRPr lang="ru-RU" sz="2800" b="1" dirty="0">
              <a:solidFill>
                <a:srgbClr val="FFFFFF"/>
              </a:solidFill>
              <a:latin typeface="Posterama"/>
              <a:cs typeface="Posterama"/>
            </a:endParaRPr>
          </a:p>
          <a:p>
            <a:endParaRPr lang="ru-RU" sz="2800" b="1" dirty="0">
              <a:solidFill>
                <a:srgbClr val="FFFFFF"/>
              </a:solidFill>
              <a:latin typeface="Posterama"/>
              <a:cs typeface="Posterama"/>
            </a:endParaRPr>
          </a:p>
        </p:txBody>
      </p:sp>
      <p:pic>
        <p:nvPicPr>
          <p:cNvPr id="56" name="Picture 3">
            <a:extLst>
              <a:ext uri="{FF2B5EF4-FFF2-40B4-BE49-F238E27FC236}">
                <a16:creationId xmlns:a16="http://schemas.microsoft.com/office/drawing/2014/main" id="{309F8BBA-8257-8E4B-0377-404992A9BD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10" r="10300" b="-9"/>
          <a:stretch>
            <a:fillRect/>
          </a:stretch>
        </p:blipFill>
        <p:spPr>
          <a:xfrm>
            <a:off x="4955602" y="10"/>
            <a:ext cx="7236398" cy="6857990"/>
          </a:xfrm>
          <a:custGeom>
            <a:avLst/>
            <a:gdLst/>
            <a:ahLst/>
            <a:cxnLst/>
            <a:rect l="l" t="t" r="r" b="b"/>
            <a:pathLst>
              <a:path w="7726675" h="6858000">
                <a:moveTo>
                  <a:pt x="2975226" y="5978334"/>
                </a:moveTo>
                <a:cubicBezTo>
                  <a:pt x="3002582" y="5978928"/>
                  <a:pt x="3030286" y="5982273"/>
                  <a:pt x="3058007" y="5988576"/>
                </a:cubicBezTo>
                <a:cubicBezTo>
                  <a:pt x="3279778" y="6038998"/>
                  <a:pt x="3418684" y="6259656"/>
                  <a:pt x="3368261" y="6481427"/>
                </a:cubicBezTo>
                <a:cubicBezTo>
                  <a:pt x="3317839" y="6703198"/>
                  <a:pt x="3097182" y="6842104"/>
                  <a:pt x="2875410" y="6791681"/>
                </a:cubicBezTo>
                <a:cubicBezTo>
                  <a:pt x="2653640" y="6741259"/>
                  <a:pt x="2514734" y="6520601"/>
                  <a:pt x="2565157" y="6298830"/>
                </a:cubicBezTo>
                <a:cubicBezTo>
                  <a:pt x="2609276" y="6104780"/>
                  <a:pt x="2783732" y="5974174"/>
                  <a:pt x="2975226" y="5978334"/>
                </a:cubicBezTo>
                <a:close/>
                <a:moveTo>
                  <a:pt x="542891" y="1298362"/>
                </a:moveTo>
                <a:cubicBezTo>
                  <a:pt x="578216" y="1299129"/>
                  <a:pt x="613991" y="1303448"/>
                  <a:pt x="649789" y="1311587"/>
                </a:cubicBezTo>
                <a:cubicBezTo>
                  <a:pt x="936170" y="1376700"/>
                  <a:pt x="1115545" y="1661643"/>
                  <a:pt x="1050432" y="1948025"/>
                </a:cubicBezTo>
                <a:cubicBezTo>
                  <a:pt x="985319" y="2234407"/>
                  <a:pt x="700376" y="2413781"/>
                  <a:pt x="413995" y="2348669"/>
                </a:cubicBezTo>
                <a:cubicBezTo>
                  <a:pt x="127612" y="2283556"/>
                  <a:pt x="-51762" y="1998612"/>
                  <a:pt x="13351" y="1712231"/>
                </a:cubicBezTo>
                <a:cubicBezTo>
                  <a:pt x="70325" y="1461647"/>
                  <a:pt x="295606" y="1292990"/>
                  <a:pt x="542891" y="1298362"/>
                </a:cubicBezTo>
                <a:close/>
                <a:moveTo>
                  <a:pt x="362049" y="446831"/>
                </a:moveTo>
                <a:cubicBezTo>
                  <a:pt x="382746" y="447281"/>
                  <a:pt x="403706" y="449811"/>
                  <a:pt x="424679" y="454579"/>
                </a:cubicBezTo>
                <a:cubicBezTo>
                  <a:pt x="592463" y="492727"/>
                  <a:pt x="697554" y="659668"/>
                  <a:pt x="659405" y="827452"/>
                </a:cubicBezTo>
                <a:cubicBezTo>
                  <a:pt x="621257" y="995236"/>
                  <a:pt x="454318" y="1100327"/>
                  <a:pt x="286534" y="1062179"/>
                </a:cubicBezTo>
                <a:cubicBezTo>
                  <a:pt x="118749" y="1024031"/>
                  <a:pt x="13658" y="857091"/>
                  <a:pt x="51806" y="689306"/>
                </a:cubicBezTo>
                <a:cubicBezTo>
                  <a:pt x="85186" y="542495"/>
                  <a:pt x="217172" y="443684"/>
                  <a:pt x="362049" y="446831"/>
                </a:cubicBezTo>
                <a:close/>
                <a:moveTo>
                  <a:pt x="688320" y="0"/>
                </a:moveTo>
                <a:lnTo>
                  <a:pt x="5442022" y="0"/>
                </a:lnTo>
                <a:lnTo>
                  <a:pt x="7726675" y="0"/>
                </a:lnTo>
                <a:lnTo>
                  <a:pt x="7726675" y="988372"/>
                </a:lnTo>
                <a:lnTo>
                  <a:pt x="7726675" y="6858000"/>
                </a:lnTo>
                <a:lnTo>
                  <a:pt x="4265234" y="6858000"/>
                </a:lnTo>
                <a:lnTo>
                  <a:pt x="4167452" y="6648946"/>
                </a:lnTo>
                <a:cubicBezTo>
                  <a:pt x="4064668" y="6438534"/>
                  <a:pt x="3951418" y="6237194"/>
                  <a:pt x="3802376" y="6067515"/>
                </a:cubicBezTo>
                <a:cubicBezTo>
                  <a:pt x="3433898" y="5648543"/>
                  <a:pt x="2855445" y="5560200"/>
                  <a:pt x="2314714" y="5492960"/>
                </a:cubicBezTo>
                <a:cubicBezTo>
                  <a:pt x="1689319" y="5415368"/>
                  <a:pt x="1105502" y="5269445"/>
                  <a:pt x="626568" y="4822392"/>
                </a:cubicBezTo>
                <a:cubicBezTo>
                  <a:pt x="42544" y="4277286"/>
                  <a:pt x="59772" y="3691233"/>
                  <a:pt x="462831" y="3184007"/>
                </a:cubicBezTo>
                <a:cubicBezTo>
                  <a:pt x="688845" y="2899538"/>
                  <a:pt x="972083" y="2660548"/>
                  <a:pt x="1228189" y="2399566"/>
                </a:cubicBezTo>
                <a:cubicBezTo>
                  <a:pt x="1460698" y="2161897"/>
                  <a:pt x="1522193" y="1866062"/>
                  <a:pt x="1384674" y="1566341"/>
                </a:cubicBezTo>
                <a:cubicBezTo>
                  <a:pt x="1239184" y="1249484"/>
                  <a:pt x="1095206" y="930335"/>
                  <a:pt x="922279" y="628332"/>
                </a:cubicBezTo>
                <a:cubicBezTo>
                  <a:pt x="805583" y="424593"/>
                  <a:pt x="731712" y="225291"/>
                  <a:pt x="693729" y="33341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815BCE-EB4A-BC32-568D-E3D15D890749}"/>
              </a:ext>
            </a:extLst>
          </p:cNvPr>
          <p:cNvSpPr txBox="1"/>
          <p:nvPr/>
        </p:nvSpPr>
        <p:spPr>
          <a:xfrm>
            <a:off x="360640" y="6226358"/>
            <a:ext cx="64360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 b="1">
                <a:latin typeface="Posterama"/>
                <a:cs typeface="Posterama"/>
              </a:rPr>
              <a:t>Тематика: «Строительные материалы»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BE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562D4-2B99-371B-3570-42251E360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85" y="4297329"/>
            <a:ext cx="3648075" cy="184043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400" dirty="0" err="1">
                <a:solidFill>
                  <a:schemeClr val="bg1"/>
                </a:solidFill>
                <a:cs typeface="Posterama"/>
              </a:rPr>
              <a:t>Введение</a:t>
            </a:r>
            <a:endParaRPr lang="en-US" sz="5400">
              <a:solidFill>
                <a:schemeClr val="bg1"/>
              </a:solidFill>
              <a:cs typeface="Posterama"/>
            </a:endParaRPr>
          </a:p>
        </p:txBody>
      </p:sp>
      <p:pic>
        <p:nvPicPr>
          <p:cNvPr id="5" name="Picture 3" descr="Изображение выглядит как инструмент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791F493-C644-C4F1-7911-8E7B1E7EF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836" b="13411"/>
          <a:stretch>
            <a:fillRect/>
          </a:stretch>
        </p:blipFill>
        <p:spPr>
          <a:xfrm>
            <a:off x="20" y="1"/>
            <a:ext cx="12191980" cy="4160803"/>
          </a:xfrm>
          <a:custGeom>
            <a:avLst/>
            <a:gdLst/>
            <a:ahLst/>
            <a:cxnLst/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</p:spPr>
      </p:pic>
      <p:sp>
        <p:nvSpPr>
          <p:cNvPr id="62" name="Content Placeholder 61">
            <a:extLst>
              <a:ext uri="{FF2B5EF4-FFF2-40B4-BE49-F238E27FC236}">
                <a16:creationId xmlns:a16="http://schemas.microsoft.com/office/drawing/2014/main" id="{66BFC29A-9237-D973-ECDF-EEDC27A91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7513" y="4297329"/>
            <a:ext cx="7870394" cy="2192126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Системы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складского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учёта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 — 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это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комплекс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мер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и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инструментов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для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контроля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управления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и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оптимизации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процессов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связанных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с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движением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хранением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и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использованием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товарно-материальных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ценностей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(ТМЦ)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на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складе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. Они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помогают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обеспечить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точность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данных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повысить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эффективность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работы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и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снизить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риски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потерь</a:t>
            </a:r>
            <a:r>
              <a:rPr lang="en-US" dirty="0">
                <a:solidFill>
                  <a:schemeClr val="bg1"/>
                </a:solidFill>
                <a:latin typeface="Posterama"/>
                <a:ea typeface="+mn-lt"/>
                <a:cs typeface="Posterama"/>
              </a:rPr>
              <a:t>.</a:t>
            </a:r>
            <a:endParaRPr lang="ru-RU" dirty="0">
              <a:solidFill>
                <a:schemeClr val="bg1"/>
              </a:solidFill>
              <a:latin typeface="Posterama"/>
              <a:cs typeface="Posterama"/>
            </a:endParaRPr>
          </a:p>
        </p:txBody>
      </p:sp>
    </p:spTree>
    <p:extLst>
      <p:ext uri="{BB962C8B-B14F-4D97-AF65-F5344CB8AC3E}">
        <p14:creationId xmlns:p14="http://schemas.microsoft.com/office/powerpoint/2010/main" val="3932969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85303E-1D59-4477-A849-22C7FEACD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A182D-23AE-9476-B4EF-265329E9E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520" y="654765"/>
            <a:ext cx="3901736" cy="92100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>
                <a:solidFill>
                  <a:srgbClr val="FFFFFF"/>
                </a:solidFill>
                <a:cs typeface="Posterama"/>
              </a:rPr>
              <a:t>Цель:</a:t>
            </a:r>
            <a:r>
              <a:rPr lang="en-US" sz="6000" dirty="0">
                <a:solidFill>
                  <a:srgbClr val="FFFFFF"/>
                </a:solidFill>
                <a:cs typeface="Posterama"/>
              </a:rPr>
              <a:t> </a:t>
            </a:r>
            <a:endParaRPr lang="en-US" sz="6000" dirty="0">
              <a:solidFill>
                <a:srgbClr val="FFFFFF"/>
              </a:solidFill>
            </a:endParaRPr>
          </a:p>
        </p:txBody>
      </p:sp>
      <p:pic>
        <p:nvPicPr>
          <p:cNvPr id="5" name="Picture 3" descr="Изображение выглядит как инструмент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469A591-F54A-769B-7CE0-D6054CFF8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069" r="13069" b="1"/>
          <a:stretch>
            <a:fillRect/>
          </a:stretch>
        </p:blipFill>
        <p:spPr>
          <a:xfrm>
            <a:off x="4955602" y="10"/>
            <a:ext cx="7236398" cy="6857990"/>
          </a:xfrm>
          <a:custGeom>
            <a:avLst/>
            <a:gdLst/>
            <a:ahLst/>
            <a:cxnLst/>
            <a:rect l="l" t="t" r="r" b="b"/>
            <a:pathLst>
              <a:path w="7726675" h="6858000">
                <a:moveTo>
                  <a:pt x="2975226" y="5978334"/>
                </a:moveTo>
                <a:cubicBezTo>
                  <a:pt x="3002582" y="5978928"/>
                  <a:pt x="3030286" y="5982273"/>
                  <a:pt x="3058007" y="5988576"/>
                </a:cubicBezTo>
                <a:cubicBezTo>
                  <a:pt x="3279778" y="6038998"/>
                  <a:pt x="3418684" y="6259656"/>
                  <a:pt x="3368261" y="6481427"/>
                </a:cubicBezTo>
                <a:cubicBezTo>
                  <a:pt x="3317839" y="6703198"/>
                  <a:pt x="3097182" y="6842104"/>
                  <a:pt x="2875410" y="6791681"/>
                </a:cubicBezTo>
                <a:cubicBezTo>
                  <a:pt x="2653640" y="6741259"/>
                  <a:pt x="2514734" y="6520601"/>
                  <a:pt x="2565157" y="6298830"/>
                </a:cubicBezTo>
                <a:cubicBezTo>
                  <a:pt x="2609276" y="6104780"/>
                  <a:pt x="2783732" y="5974174"/>
                  <a:pt x="2975226" y="5978334"/>
                </a:cubicBezTo>
                <a:close/>
                <a:moveTo>
                  <a:pt x="542891" y="1298362"/>
                </a:moveTo>
                <a:cubicBezTo>
                  <a:pt x="578216" y="1299129"/>
                  <a:pt x="613991" y="1303448"/>
                  <a:pt x="649789" y="1311587"/>
                </a:cubicBezTo>
                <a:cubicBezTo>
                  <a:pt x="936170" y="1376700"/>
                  <a:pt x="1115545" y="1661643"/>
                  <a:pt x="1050432" y="1948025"/>
                </a:cubicBezTo>
                <a:cubicBezTo>
                  <a:pt x="985319" y="2234407"/>
                  <a:pt x="700376" y="2413781"/>
                  <a:pt x="413995" y="2348669"/>
                </a:cubicBezTo>
                <a:cubicBezTo>
                  <a:pt x="127612" y="2283556"/>
                  <a:pt x="-51762" y="1998612"/>
                  <a:pt x="13351" y="1712231"/>
                </a:cubicBezTo>
                <a:cubicBezTo>
                  <a:pt x="70325" y="1461647"/>
                  <a:pt x="295606" y="1292990"/>
                  <a:pt x="542891" y="1298362"/>
                </a:cubicBezTo>
                <a:close/>
                <a:moveTo>
                  <a:pt x="362049" y="446831"/>
                </a:moveTo>
                <a:cubicBezTo>
                  <a:pt x="382746" y="447281"/>
                  <a:pt x="403706" y="449811"/>
                  <a:pt x="424679" y="454579"/>
                </a:cubicBezTo>
                <a:cubicBezTo>
                  <a:pt x="592463" y="492727"/>
                  <a:pt x="697554" y="659668"/>
                  <a:pt x="659405" y="827452"/>
                </a:cubicBezTo>
                <a:cubicBezTo>
                  <a:pt x="621257" y="995236"/>
                  <a:pt x="454318" y="1100327"/>
                  <a:pt x="286534" y="1062179"/>
                </a:cubicBezTo>
                <a:cubicBezTo>
                  <a:pt x="118749" y="1024031"/>
                  <a:pt x="13658" y="857091"/>
                  <a:pt x="51806" y="689306"/>
                </a:cubicBezTo>
                <a:cubicBezTo>
                  <a:pt x="85186" y="542495"/>
                  <a:pt x="217172" y="443684"/>
                  <a:pt x="362049" y="446831"/>
                </a:cubicBezTo>
                <a:close/>
                <a:moveTo>
                  <a:pt x="688320" y="0"/>
                </a:moveTo>
                <a:lnTo>
                  <a:pt x="5442022" y="0"/>
                </a:lnTo>
                <a:lnTo>
                  <a:pt x="7726675" y="0"/>
                </a:lnTo>
                <a:lnTo>
                  <a:pt x="7726675" y="988372"/>
                </a:lnTo>
                <a:lnTo>
                  <a:pt x="7726675" y="6858000"/>
                </a:lnTo>
                <a:lnTo>
                  <a:pt x="4265234" y="6858000"/>
                </a:lnTo>
                <a:lnTo>
                  <a:pt x="4167452" y="6648946"/>
                </a:lnTo>
                <a:cubicBezTo>
                  <a:pt x="4064668" y="6438534"/>
                  <a:pt x="3951418" y="6237194"/>
                  <a:pt x="3802376" y="6067515"/>
                </a:cubicBezTo>
                <a:cubicBezTo>
                  <a:pt x="3433898" y="5648543"/>
                  <a:pt x="2855445" y="5560200"/>
                  <a:pt x="2314714" y="5492960"/>
                </a:cubicBezTo>
                <a:cubicBezTo>
                  <a:pt x="1689319" y="5415368"/>
                  <a:pt x="1105502" y="5269445"/>
                  <a:pt x="626568" y="4822392"/>
                </a:cubicBezTo>
                <a:cubicBezTo>
                  <a:pt x="42544" y="4277286"/>
                  <a:pt x="59772" y="3691233"/>
                  <a:pt x="462831" y="3184007"/>
                </a:cubicBezTo>
                <a:cubicBezTo>
                  <a:pt x="688845" y="2899538"/>
                  <a:pt x="972083" y="2660548"/>
                  <a:pt x="1228189" y="2399566"/>
                </a:cubicBezTo>
                <a:cubicBezTo>
                  <a:pt x="1460698" y="2161897"/>
                  <a:pt x="1522193" y="1866062"/>
                  <a:pt x="1384674" y="1566341"/>
                </a:cubicBezTo>
                <a:cubicBezTo>
                  <a:pt x="1239184" y="1249484"/>
                  <a:pt x="1095206" y="930335"/>
                  <a:pt x="922279" y="628332"/>
                </a:cubicBezTo>
                <a:cubicBezTo>
                  <a:pt x="805583" y="424593"/>
                  <a:pt x="731712" y="225291"/>
                  <a:pt x="693729" y="33341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2BC09D-C569-8C53-52CD-DB86D6E274FC}"/>
              </a:ext>
            </a:extLst>
          </p:cNvPr>
          <p:cNvSpPr txBox="1"/>
          <p:nvPr/>
        </p:nvSpPr>
        <p:spPr>
          <a:xfrm>
            <a:off x="533954" y="1709386"/>
            <a:ext cx="409846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Posterama"/>
                <a:cs typeface="Posterama"/>
              </a:rPr>
              <a:t>Модернизировать приложение для учёта строительных товаров путём </a:t>
            </a:r>
            <a:r>
              <a:rPr lang="ru-RU">
                <a:latin typeface="Posterama"/>
                <a:cs typeface="Posterama"/>
              </a:rPr>
              <a:t>внедрения нескольких модулей:</a:t>
            </a:r>
          </a:p>
          <a:p>
            <a:endParaRPr lang="ru-RU" dirty="0">
              <a:latin typeface="Posterama"/>
              <a:cs typeface="Posterama"/>
            </a:endParaRPr>
          </a:p>
          <a:p>
            <a:pPr marL="342900" indent="-342900">
              <a:buAutoNum type="arabicPeriod"/>
            </a:pPr>
            <a:r>
              <a:rPr lang="ru-RU">
                <a:latin typeface="Posterama"/>
                <a:cs typeface="Posterama"/>
              </a:rPr>
              <a:t>Модуль </a:t>
            </a:r>
            <a:r>
              <a:rPr lang="ru-RU">
                <a:latin typeface="Posterama"/>
                <a:ea typeface="+mn-lt"/>
                <a:cs typeface="Posterama"/>
              </a:rPr>
              <a:t>«Проверка контрагента»</a:t>
            </a:r>
            <a:endParaRPr lang="ru-RU" dirty="0">
              <a:latin typeface="Posterama"/>
              <a:ea typeface="+mn-lt"/>
              <a:cs typeface="Posterama"/>
            </a:endParaRPr>
          </a:p>
          <a:p>
            <a:pPr marL="342900" indent="-342900">
              <a:buAutoNum type="arabicPeriod"/>
            </a:pPr>
            <a:r>
              <a:rPr lang="ru-RU">
                <a:latin typeface="Posterama"/>
                <a:cs typeface="Posterama"/>
              </a:rPr>
              <a:t>Модуль</a:t>
            </a:r>
            <a:r>
              <a:rPr lang="ru-RU">
                <a:latin typeface="Posterama"/>
                <a:ea typeface="+mn-lt"/>
                <a:cs typeface="Posterama"/>
              </a:rPr>
              <a:t> «Геолокация и погода </a:t>
            </a:r>
            <a:r>
              <a:rPr lang="ru-RU" dirty="0">
                <a:latin typeface="Posterama"/>
                <a:ea typeface="+mn-lt"/>
                <a:cs typeface="Posterama"/>
              </a:rPr>
              <a:t>для логистики»</a:t>
            </a:r>
          </a:p>
          <a:p>
            <a:pPr marL="342900" indent="-342900">
              <a:buAutoNum type="arabicPeriod"/>
            </a:pPr>
            <a:r>
              <a:rPr lang="ru-RU" dirty="0">
                <a:latin typeface="Posterama"/>
                <a:cs typeface="Posterama"/>
              </a:rPr>
              <a:t>Модуль </a:t>
            </a:r>
            <a:r>
              <a:rPr lang="ru-RU">
                <a:latin typeface="Posterama"/>
                <a:ea typeface="+mn-lt"/>
                <a:cs typeface="Posterama"/>
              </a:rPr>
              <a:t>«Тепловая карта склада»</a:t>
            </a:r>
            <a:endParaRPr lang="ru-RU" dirty="0">
              <a:latin typeface="Posterama"/>
              <a:cs typeface="Posterama"/>
            </a:endParaRPr>
          </a:p>
          <a:p>
            <a:endParaRPr lang="ru-RU" dirty="0">
              <a:latin typeface="Posterama"/>
              <a:cs typeface="Postera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F5ED8-7E52-A2FD-CCE8-4365DC6D1307}"/>
              </a:ext>
            </a:extLst>
          </p:cNvPr>
          <p:cNvSpPr txBox="1"/>
          <p:nvPr/>
        </p:nvSpPr>
        <p:spPr>
          <a:xfrm>
            <a:off x="533399" y="4296508"/>
            <a:ext cx="2233247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 err="1">
                <a:latin typeface="Posterama"/>
                <a:cs typeface="Posterama"/>
              </a:rPr>
              <a:t>Задачи</a:t>
            </a:r>
            <a:r>
              <a:rPr lang="en-US" sz="3200" dirty="0">
                <a:latin typeface="Posterama"/>
                <a:cs typeface="Posterama"/>
              </a:rPr>
              <a:t>:</a:t>
            </a:r>
          </a:p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7ABC7-9667-13AE-79B8-42F1F09496E8}"/>
              </a:ext>
            </a:extLst>
          </p:cNvPr>
          <p:cNvSpPr txBox="1"/>
          <p:nvPr/>
        </p:nvSpPr>
        <p:spPr>
          <a:xfrm>
            <a:off x="605421" y="4997296"/>
            <a:ext cx="513203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ru-RU">
                <a:latin typeface="Posterama"/>
                <a:cs typeface="Posterama"/>
              </a:rPr>
              <a:t>Модернизировать формы приложения</a:t>
            </a:r>
          </a:p>
          <a:p>
            <a:pPr marL="342900" indent="-342900">
              <a:buAutoNum type="arabicPeriod"/>
            </a:pPr>
            <a:r>
              <a:rPr lang="ru-RU">
                <a:latin typeface="Posterama"/>
                <a:cs typeface="Posterama"/>
              </a:rPr>
              <a:t>Создать новые формы</a:t>
            </a:r>
          </a:p>
          <a:p>
            <a:pPr marL="342900" indent="-342900">
              <a:buAutoNum type="arabicPeriod"/>
            </a:pPr>
            <a:r>
              <a:rPr lang="ru-RU">
                <a:latin typeface="Posterama"/>
                <a:cs typeface="Posterama"/>
              </a:rPr>
              <a:t>Распределить задачи по спринтам</a:t>
            </a:r>
          </a:p>
          <a:p>
            <a:pPr marL="342900" indent="-342900">
              <a:buAutoNum type="arabicPeriod"/>
            </a:pPr>
            <a:r>
              <a:rPr lang="ru-RU">
                <a:latin typeface="Posterama"/>
                <a:cs typeface="Posterama"/>
              </a:rPr>
              <a:t>Составить ТЗ</a:t>
            </a:r>
          </a:p>
          <a:p>
            <a:pPr marL="342900" indent="-342900">
              <a:buAutoNum type="arabicPeriod"/>
            </a:pPr>
            <a:r>
              <a:rPr lang="ru-RU">
                <a:latin typeface="Posterama"/>
                <a:cs typeface="Posterama"/>
              </a:rPr>
              <a:t>Протестировать функционал приложения</a:t>
            </a:r>
            <a:endParaRPr lang="ru-RU" dirty="0">
              <a:latin typeface="Posterama"/>
              <a:cs typeface="Posterama"/>
            </a:endParaRPr>
          </a:p>
        </p:txBody>
      </p:sp>
    </p:spTree>
    <p:extLst>
      <p:ext uri="{BB962C8B-B14F-4D97-AF65-F5344CB8AC3E}">
        <p14:creationId xmlns:p14="http://schemas.microsoft.com/office/powerpoint/2010/main" val="3465504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BD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B1BC0-5A68-A415-EB93-68685727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062" y="5144321"/>
            <a:ext cx="5934075" cy="1922496"/>
          </a:xfrm>
        </p:spPr>
        <p:txBody>
          <a:bodyPr anchor="ctr">
            <a:normAutofit/>
          </a:bodyPr>
          <a:lstStyle/>
          <a:p>
            <a:r>
              <a:rPr lang="ru-RU" sz="5400">
                <a:solidFill>
                  <a:schemeClr val="bg1"/>
                </a:solidFill>
                <a:cs typeface="Posterama"/>
              </a:rPr>
              <a:t>Состав команды</a:t>
            </a:r>
            <a:endParaRPr lang="ru-RU" sz="5400" dirty="0">
              <a:solidFill>
                <a:schemeClr val="bg1"/>
              </a:solidFill>
              <a:cs typeface="Posterama"/>
            </a:endParaRPr>
          </a:p>
        </p:txBody>
      </p:sp>
      <p:pic>
        <p:nvPicPr>
          <p:cNvPr id="5" name="Picture 3" descr="Изображение выглядит как инструмент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5CF89A7-1921-48CB-183E-C2C4FD0900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836" b="13411"/>
          <a:stretch>
            <a:fillRect/>
          </a:stretch>
        </p:blipFill>
        <p:spPr>
          <a:xfrm>
            <a:off x="20" y="1"/>
            <a:ext cx="12191980" cy="4160803"/>
          </a:xfrm>
          <a:custGeom>
            <a:avLst/>
            <a:gdLst/>
            <a:ahLst/>
            <a:cxnLst/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F45A55-3490-2F70-8211-89F7A4EAD687}"/>
              </a:ext>
            </a:extLst>
          </p:cNvPr>
          <p:cNvSpPr txBox="1"/>
          <p:nvPr/>
        </p:nvSpPr>
        <p:spPr>
          <a:xfrm>
            <a:off x="336778" y="4347047"/>
            <a:ext cx="26679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Posterama"/>
                <a:cs typeface="Posterama"/>
              </a:rPr>
              <a:t>Аналитик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941432-6133-D356-44CF-E76201097835}"/>
              </a:ext>
            </a:extLst>
          </p:cNvPr>
          <p:cNvSpPr txBox="1"/>
          <p:nvPr/>
        </p:nvSpPr>
        <p:spPr>
          <a:xfrm>
            <a:off x="4502983" y="4347045"/>
            <a:ext cx="26679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Posterama"/>
                <a:cs typeface="Posterama"/>
              </a:rPr>
              <a:t>Разработчик(и)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F8C85-F0C2-73A4-D960-2D79ED55E577}"/>
              </a:ext>
            </a:extLst>
          </p:cNvPr>
          <p:cNvSpPr txBox="1"/>
          <p:nvPr/>
        </p:nvSpPr>
        <p:spPr>
          <a:xfrm>
            <a:off x="9063102" y="4347045"/>
            <a:ext cx="26679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Posterama"/>
                <a:cs typeface="Posterama"/>
              </a:rPr>
              <a:t>Тестировщик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FE5D45-B31F-F25D-A684-42A4729C2AB7}"/>
              </a:ext>
            </a:extLst>
          </p:cNvPr>
          <p:cNvSpPr txBox="1"/>
          <p:nvPr/>
        </p:nvSpPr>
        <p:spPr>
          <a:xfrm>
            <a:off x="338518" y="4957688"/>
            <a:ext cx="2791851" cy="374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Posterama"/>
                <a:cs typeface="Posterama"/>
              </a:rPr>
              <a:t>Кустов Иван </a:t>
            </a:r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657F3-B23E-B018-42D4-1F374716BB06}"/>
              </a:ext>
            </a:extLst>
          </p:cNvPr>
          <p:cNvSpPr txBox="1"/>
          <p:nvPr/>
        </p:nvSpPr>
        <p:spPr>
          <a:xfrm>
            <a:off x="4441991" y="4823823"/>
            <a:ext cx="2791851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Posterama"/>
                <a:cs typeface="Posterama"/>
              </a:rPr>
              <a:t>Сафин Нияз и Ившин Максим 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AA5A52-CDD2-ADF3-382D-54167618BA63}"/>
              </a:ext>
            </a:extLst>
          </p:cNvPr>
          <p:cNvSpPr txBox="1"/>
          <p:nvPr/>
        </p:nvSpPr>
        <p:spPr>
          <a:xfrm>
            <a:off x="9060328" y="4957688"/>
            <a:ext cx="2791851" cy="374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Posterama"/>
                <a:cs typeface="Posterama"/>
              </a:rPr>
              <a:t>Абдуллин Тимур </a:t>
            </a:r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483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BE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58F1E-BA78-6111-943A-57BCE361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78" y="347628"/>
            <a:ext cx="4606456" cy="1154711"/>
          </a:xfrm>
        </p:spPr>
        <p:txBody>
          <a:bodyPr>
            <a:normAutofit/>
          </a:bodyPr>
          <a:lstStyle/>
          <a:p>
            <a:r>
              <a:rPr lang="ru-RU" sz="5400">
                <a:solidFill>
                  <a:schemeClr val="bg1"/>
                </a:solidFill>
                <a:cs typeface="Posterama"/>
              </a:rPr>
              <a:t>Аналитик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6D0608-E0D0-0CE7-6C27-0A2924767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06" y="2087195"/>
            <a:ext cx="4594537" cy="3174788"/>
          </a:xfrm>
        </p:spPr>
        <p:txBody>
          <a:bodyPr anchor="t">
            <a:normAutofit/>
          </a:bodyPr>
          <a:lstStyle/>
          <a:p>
            <a:r>
              <a:rPr lang="ru-RU">
                <a:solidFill>
                  <a:srgbClr val="FFFFFF"/>
                </a:solidFill>
                <a:latin typeface="Posterama"/>
                <a:cs typeface="Posterama"/>
              </a:rPr>
              <a:t>Аналитик — специалист, который работает с IT-системами. Он переводит требования к IT-продукту с языка бизнеса на язык разработки и контролирует процесс его создания — вплоть до запуска в работу.</a:t>
            </a:r>
            <a:endParaRPr lang="ru-RU">
              <a:latin typeface="Posterama"/>
              <a:cs typeface="Posterama"/>
            </a:endParaRPr>
          </a:p>
        </p:txBody>
      </p:sp>
      <p:pic>
        <p:nvPicPr>
          <p:cNvPr id="5" name="Picture 3" descr="Изображение выглядит как инструмент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AD7DA2F-6460-E6AF-2D95-B310573D62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02" r="15302"/>
          <a:stretch>
            <a:fillRect/>
          </a:stretch>
        </p:blipFill>
        <p:spPr>
          <a:xfrm>
            <a:off x="5879198" y="490264"/>
            <a:ext cx="6312802" cy="6367736"/>
          </a:xfrm>
          <a:custGeom>
            <a:avLst/>
            <a:gdLst/>
            <a:ahLst/>
            <a:cxnLst/>
            <a:rect l="l" t="t" r="r" b="b"/>
            <a:pathLst>
              <a:path w="6312802" h="6367736">
                <a:moveTo>
                  <a:pt x="789715" y="708127"/>
                </a:moveTo>
                <a:cubicBezTo>
                  <a:pt x="845978" y="711650"/>
                  <a:pt x="901296" y="724302"/>
                  <a:pt x="953475" y="745602"/>
                </a:cubicBezTo>
                <a:cubicBezTo>
                  <a:pt x="1173612" y="834890"/>
                  <a:pt x="1309905" y="1073925"/>
                  <a:pt x="1278834" y="1315681"/>
                </a:cubicBezTo>
                <a:cubicBezTo>
                  <a:pt x="1233750" y="1669869"/>
                  <a:pt x="880524" y="1881517"/>
                  <a:pt x="560369" y="1747304"/>
                </a:cubicBezTo>
                <a:cubicBezTo>
                  <a:pt x="338151" y="1654256"/>
                  <a:pt x="204742" y="1408974"/>
                  <a:pt x="242538" y="1164574"/>
                </a:cubicBezTo>
                <a:cubicBezTo>
                  <a:pt x="286421" y="880774"/>
                  <a:pt x="529219" y="692590"/>
                  <a:pt x="789715" y="708127"/>
                </a:cubicBezTo>
                <a:close/>
                <a:moveTo>
                  <a:pt x="2877121" y="364348"/>
                </a:moveTo>
                <a:cubicBezTo>
                  <a:pt x="2901561" y="365790"/>
                  <a:pt x="2925601" y="371235"/>
                  <a:pt x="2948310" y="380363"/>
                </a:cubicBezTo>
                <a:cubicBezTo>
                  <a:pt x="3044405" y="419202"/>
                  <a:pt x="3103503" y="523063"/>
                  <a:pt x="3089970" y="628607"/>
                </a:cubicBezTo>
                <a:cubicBezTo>
                  <a:pt x="3070190" y="782758"/>
                  <a:pt x="2916600" y="874848"/>
                  <a:pt x="2777343" y="816472"/>
                </a:cubicBezTo>
                <a:cubicBezTo>
                  <a:pt x="2680608" y="775952"/>
                  <a:pt x="2622552" y="669287"/>
                  <a:pt x="2639048" y="562863"/>
                </a:cubicBezTo>
                <a:cubicBezTo>
                  <a:pt x="2658106" y="439382"/>
                  <a:pt x="2763810" y="357542"/>
                  <a:pt x="2877121" y="364348"/>
                </a:cubicBezTo>
                <a:close/>
                <a:moveTo>
                  <a:pt x="5725514" y="29060"/>
                </a:moveTo>
                <a:lnTo>
                  <a:pt x="5748657" y="29701"/>
                </a:lnTo>
                <a:cubicBezTo>
                  <a:pt x="5935681" y="36387"/>
                  <a:pt x="6081789" y="65616"/>
                  <a:pt x="6194082" y="113315"/>
                </a:cubicBezTo>
                <a:lnTo>
                  <a:pt x="6312802" y="183322"/>
                </a:lnTo>
                <a:lnTo>
                  <a:pt x="6312802" y="6367736"/>
                </a:lnTo>
                <a:lnTo>
                  <a:pt x="3171877" y="6367736"/>
                </a:lnTo>
                <a:lnTo>
                  <a:pt x="3171635" y="6367591"/>
                </a:lnTo>
                <a:lnTo>
                  <a:pt x="2683232" y="6367591"/>
                </a:lnTo>
                <a:lnTo>
                  <a:pt x="2683031" y="6367736"/>
                </a:lnTo>
                <a:lnTo>
                  <a:pt x="1006759" y="6367736"/>
                </a:lnTo>
                <a:lnTo>
                  <a:pt x="1017798" y="6253705"/>
                </a:lnTo>
                <a:cubicBezTo>
                  <a:pt x="1043303" y="6019815"/>
                  <a:pt x="1065826" y="5776617"/>
                  <a:pt x="897420" y="5565130"/>
                </a:cubicBezTo>
                <a:cubicBezTo>
                  <a:pt x="700507" y="5318087"/>
                  <a:pt x="491822" y="5428997"/>
                  <a:pt x="271526" y="5130943"/>
                </a:cubicBezTo>
                <a:cubicBezTo>
                  <a:pt x="108646" y="4910648"/>
                  <a:pt x="-26366" y="4708290"/>
                  <a:pt x="39940" y="4415201"/>
                </a:cubicBezTo>
                <a:cubicBezTo>
                  <a:pt x="128666" y="4023216"/>
                  <a:pt x="467878" y="3870268"/>
                  <a:pt x="464356" y="3587268"/>
                </a:cubicBezTo>
                <a:cubicBezTo>
                  <a:pt x="460351" y="3247094"/>
                  <a:pt x="43943" y="3178950"/>
                  <a:pt x="3183" y="2791128"/>
                </a:cubicBezTo>
                <a:cubicBezTo>
                  <a:pt x="-23403" y="2538162"/>
                  <a:pt x="118896" y="2235225"/>
                  <a:pt x="343758" y="2095087"/>
                </a:cubicBezTo>
                <a:cubicBezTo>
                  <a:pt x="758163" y="1836512"/>
                  <a:pt x="1225342" y="2272862"/>
                  <a:pt x="1543093" y="2013487"/>
                </a:cubicBezTo>
                <a:cubicBezTo>
                  <a:pt x="1732879" y="1858534"/>
                  <a:pt x="1763790" y="1542064"/>
                  <a:pt x="1726873" y="1342749"/>
                </a:cubicBezTo>
                <a:cubicBezTo>
                  <a:pt x="1656484" y="963255"/>
                  <a:pt x="1345299" y="901114"/>
                  <a:pt x="1356831" y="612032"/>
                </a:cubicBezTo>
                <a:cubicBezTo>
                  <a:pt x="1365319" y="397180"/>
                  <a:pt x="1547578" y="171600"/>
                  <a:pt x="1773239" y="121551"/>
                </a:cubicBezTo>
                <a:cubicBezTo>
                  <a:pt x="1804789" y="114503"/>
                  <a:pt x="1837013" y="110980"/>
                  <a:pt x="1869333" y="110980"/>
                </a:cubicBezTo>
                <a:cubicBezTo>
                  <a:pt x="2087466" y="110980"/>
                  <a:pt x="2259155" y="271137"/>
                  <a:pt x="2312167" y="320866"/>
                </a:cubicBezTo>
                <a:cubicBezTo>
                  <a:pt x="2563133" y="555255"/>
                  <a:pt x="2364538" y="842498"/>
                  <a:pt x="2568899" y="1194363"/>
                </a:cubicBezTo>
                <a:cubicBezTo>
                  <a:pt x="2600650" y="1246494"/>
                  <a:pt x="2637078" y="1295662"/>
                  <a:pt x="2677726" y="1341226"/>
                </a:cubicBezTo>
                <a:cubicBezTo>
                  <a:pt x="2757804" y="1432276"/>
                  <a:pt x="2906990" y="1416261"/>
                  <a:pt x="2964327" y="1310316"/>
                </a:cubicBezTo>
                <a:cubicBezTo>
                  <a:pt x="3059059" y="1135183"/>
                  <a:pt x="3149628" y="938831"/>
                  <a:pt x="3333248" y="887741"/>
                </a:cubicBezTo>
                <a:cubicBezTo>
                  <a:pt x="3690239" y="788365"/>
                  <a:pt x="3902767" y="1378543"/>
                  <a:pt x="4272730" y="1307994"/>
                </a:cubicBezTo>
                <a:cubicBezTo>
                  <a:pt x="4426320" y="1278686"/>
                  <a:pt x="4515368" y="1152802"/>
                  <a:pt x="4596327" y="996810"/>
                </a:cubicBezTo>
                <a:cubicBezTo>
                  <a:pt x="4618829" y="953326"/>
                  <a:pt x="4640770" y="907521"/>
                  <a:pt x="4663272" y="860676"/>
                </a:cubicBezTo>
                <a:cubicBezTo>
                  <a:pt x="4732781" y="613153"/>
                  <a:pt x="4835282" y="115946"/>
                  <a:pt x="5572324" y="40189"/>
                </a:cubicBezTo>
                <a:cubicBezTo>
                  <a:pt x="5622910" y="31543"/>
                  <a:pt x="5674208" y="27859"/>
                  <a:pt x="5725514" y="29060"/>
                </a:cubicBezTo>
                <a:close/>
                <a:moveTo>
                  <a:pt x="4169348" y="793"/>
                </a:moveTo>
                <a:cubicBezTo>
                  <a:pt x="4219966" y="3995"/>
                  <a:pt x="4269734" y="15368"/>
                  <a:pt x="4316693" y="34505"/>
                </a:cubicBezTo>
                <a:cubicBezTo>
                  <a:pt x="4514808" y="114584"/>
                  <a:pt x="4637488" y="329676"/>
                  <a:pt x="4609540" y="547569"/>
                </a:cubicBezTo>
                <a:cubicBezTo>
                  <a:pt x="4568620" y="865801"/>
                  <a:pt x="4251108" y="1055907"/>
                  <a:pt x="3962986" y="935790"/>
                </a:cubicBezTo>
                <a:cubicBezTo>
                  <a:pt x="3762790" y="852028"/>
                  <a:pt x="3642672" y="631491"/>
                  <a:pt x="3676946" y="411355"/>
                </a:cubicBezTo>
                <a:cubicBezTo>
                  <a:pt x="3716424" y="155985"/>
                  <a:pt x="3934959" y="-13061"/>
                  <a:pt x="4169348" y="793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BEC49D-46CE-068B-980C-7277A2DD9C0D}"/>
              </a:ext>
            </a:extLst>
          </p:cNvPr>
          <p:cNvSpPr txBox="1"/>
          <p:nvPr/>
        </p:nvSpPr>
        <p:spPr>
          <a:xfrm>
            <a:off x="596426" y="5174565"/>
            <a:ext cx="2791851" cy="374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Posterama"/>
                <a:cs typeface="Posterama"/>
              </a:rPr>
              <a:t>Кустов Иван 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828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BE9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9C993-66F4-3C05-E75C-E2B92130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FE08CA28-1201-3208-3B4A-BCBA5C523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682422-B7F2-B230-423C-D48B4506C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C27BA-25B7-2565-F779-CD18A0A5C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78" y="347628"/>
            <a:ext cx="4606456" cy="1154711"/>
          </a:xfrm>
        </p:spPr>
        <p:txBody>
          <a:bodyPr>
            <a:normAutofit/>
          </a:bodyPr>
          <a:lstStyle/>
          <a:p>
            <a:r>
              <a:rPr lang="ru-RU" sz="5400">
                <a:solidFill>
                  <a:schemeClr val="bg1"/>
                </a:solidFill>
                <a:cs typeface="Posterama"/>
              </a:rPr>
              <a:t>Разработчик</a:t>
            </a:r>
            <a:endParaRPr lang="ru-RU" sz="5400" dirty="0">
              <a:solidFill>
                <a:schemeClr val="bg1"/>
              </a:solidFill>
              <a:cs typeface="Posterama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C063D-1357-4CCE-0A3C-BC4616E8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475" y="1841010"/>
            <a:ext cx="4594537" cy="3174788"/>
          </a:xfrm>
        </p:spPr>
        <p:txBody>
          <a:bodyPr anchor="t">
            <a:normAutofit/>
          </a:bodyPr>
          <a:lstStyle/>
          <a:p>
            <a:r>
              <a:rPr lang="ru-RU">
                <a:solidFill>
                  <a:srgbClr val="FFFFFF"/>
                </a:solidFill>
                <a:latin typeface="Posterama"/>
                <a:cs typeface="Posterama"/>
              </a:rPr>
              <a:t>Разработчик в IT — это специалист, который занимается созданием программного обеспечения.</a:t>
            </a:r>
          </a:p>
          <a:p>
            <a:r>
              <a:rPr lang="ru-RU" dirty="0">
                <a:solidFill>
                  <a:srgbClr val="FFFFFF"/>
                </a:solidFill>
                <a:latin typeface="Posterama"/>
                <a:cs typeface="Posterama"/>
              </a:rPr>
              <a:t>В нашем случае это человек, который занимался работоспособностью приложения </a:t>
            </a:r>
            <a:r>
              <a:rPr lang="ru-RU">
                <a:solidFill>
                  <a:srgbClr val="FFFFFF"/>
                </a:solidFill>
                <a:latin typeface="Posterama"/>
                <a:cs typeface="Posterama"/>
              </a:rPr>
              <a:t>на Windows Forms и его функционалом.</a:t>
            </a:r>
            <a:endParaRPr lang="ru-RU" dirty="0">
              <a:solidFill>
                <a:srgbClr val="FFFFFF"/>
              </a:solidFill>
              <a:latin typeface="Posterama"/>
              <a:cs typeface="Posterama"/>
            </a:endParaRPr>
          </a:p>
        </p:txBody>
      </p:sp>
      <p:pic>
        <p:nvPicPr>
          <p:cNvPr id="5" name="Picture 3" descr="Изображение выглядит как инструмент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488768-7EF6-2C1C-E1C5-91FF31EE1C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02" r="15302"/>
          <a:stretch>
            <a:fillRect/>
          </a:stretch>
        </p:blipFill>
        <p:spPr>
          <a:xfrm>
            <a:off x="5879198" y="490264"/>
            <a:ext cx="6312802" cy="6367736"/>
          </a:xfrm>
          <a:custGeom>
            <a:avLst/>
            <a:gdLst/>
            <a:ahLst/>
            <a:cxnLst/>
            <a:rect l="l" t="t" r="r" b="b"/>
            <a:pathLst>
              <a:path w="6312802" h="6367736">
                <a:moveTo>
                  <a:pt x="789715" y="708127"/>
                </a:moveTo>
                <a:cubicBezTo>
                  <a:pt x="845978" y="711650"/>
                  <a:pt x="901296" y="724302"/>
                  <a:pt x="953475" y="745602"/>
                </a:cubicBezTo>
                <a:cubicBezTo>
                  <a:pt x="1173612" y="834890"/>
                  <a:pt x="1309905" y="1073925"/>
                  <a:pt x="1278834" y="1315681"/>
                </a:cubicBezTo>
                <a:cubicBezTo>
                  <a:pt x="1233750" y="1669869"/>
                  <a:pt x="880524" y="1881517"/>
                  <a:pt x="560369" y="1747304"/>
                </a:cubicBezTo>
                <a:cubicBezTo>
                  <a:pt x="338151" y="1654256"/>
                  <a:pt x="204742" y="1408974"/>
                  <a:pt x="242538" y="1164574"/>
                </a:cubicBezTo>
                <a:cubicBezTo>
                  <a:pt x="286421" y="880774"/>
                  <a:pt x="529219" y="692590"/>
                  <a:pt x="789715" y="708127"/>
                </a:cubicBezTo>
                <a:close/>
                <a:moveTo>
                  <a:pt x="2877121" y="364348"/>
                </a:moveTo>
                <a:cubicBezTo>
                  <a:pt x="2901561" y="365790"/>
                  <a:pt x="2925601" y="371235"/>
                  <a:pt x="2948310" y="380363"/>
                </a:cubicBezTo>
                <a:cubicBezTo>
                  <a:pt x="3044405" y="419202"/>
                  <a:pt x="3103503" y="523063"/>
                  <a:pt x="3089970" y="628607"/>
                </a:cubicBezTo>
                <a:cubicBezTo>
                  <a:pt x="3070190" y="782758"/>
                  <a:pt x="2916600" y="874848"/>
                  <a:pt x="2777343" y="816472"/>
                </a:cubicBezTo>
                <a:cubicBezTo>
                  <a:pt x="2680608" y="775952"/>
                  <a:pt x="2622552" y="669287"/>
                  <a:pt x="2639048" y="562863"/>
                </a:cubicBezTo>
                <a:cubicBezTo>
                  <a:pt x="2658106" y="439382"/>
                  <a:pt x="2763810" y="357542"/>
                  <a:pt x="2877121" y="364348"/>
                </a:cubicBezTo>
                <a:close/>
                <a:moveTo>
                  <a:pt x="5725514" y="29060"/>
                </a:moveTo>
                <a:lnTo>
                  <a:pt x="5748657" y="29701"/>
                </a:lnTo>
                <a:cubicBezTo>
                  <a:pt x="5935681" y="36387"/>
                  <a:pt x="6081789" y="65616"/>
                  <a:pt x="6194082" y="113315"/>
                </a:cubicBezTo>
                <a:lnTo>
                  <a:pt x="6312802" y="183322"/>
                </a:lnTo>
                <a:lnTo>
                  <a:pt x="6312802" y="6367736"/>
                </a:lnTo>
                <a:lnTo>
                  <a:pt x="3171877" y="6367736"/>
                </a:lnTo>
                <a:lnTo>
                  <a:pt x="3171635" y="6367591"/>
                </a:lnTo>
                <a:lnTo>
                  <a:pt x="2683232" y="6367591"/>
                </a:lnTo>
                <a:lnTo>
                  <a:pt x="2683031" y="6367736"/>
                </a:lnTo>
                <a:lnTo>
                  <a:pt x="1006759" y="6367736"/>
                </a:lnTo>
                <a:lnTo>
                  <a:pt x="1017798" y="6253705"/>
                </a:lnTo>
                <a:cubicBezTo>
                  <a:pt x="1043303" y="6019815"/>
                  <a:pt x="1065826" y="5776617"/>
                  <a:pt x="897420" y="5565130"/>
                </a:cubicBezTo>
                <a:cubicBezTo>
                  <a:pt x="700507" y="5318087"/>
                  <a:pt x="491822" y="5428997"/>
                  <a:pt x="271526" y="5130943"/>
                </a:cubicBezTo>
                <a:cubicBezTo>
                  <a:pt x="108646" y="4910648"/>
                  <a:pt x="-26366" y="4708290"/>
                  <a:pt x="39940" y="4415201"/>
                </a:cubicBezTo>
                <a:cubicBezTo>
                  <a:pt x="128666" y="4023216"/>
                  <a:pt x="467878" y="3870268"/>
                  <a:pt x="464356" y="3587268"/>
                </a:cubicBezTo>
                <a:cubicBezTo>
                  <a:pt x="460351" y="3247094"/>
                  <a:pt x="43943" y="3178950"/>
                  <a:pt x="3183" y="2791128"/>
                </a:cubicBezTo>
                <a:cubicBezTo>
                  <a:pt x="-23403" y="2538162"/>
                  <a:pt x="118896" y="2235225"/>
                  <a:pt x="343758" y="2095087"/>
                </a:cubicBezTo>
                <a:cubicBezTo>
                  <a:pt x="758163" y="1836512"/>
                  <a:pt x="1225342" y="2272862"/>
                  <a:pt x="1543093" y="2013487"/>
                </a:cubicBezTo>
                <a:cubicBezTo>
                  <a:pt x="1732879" y="1858534"/>
                  <a:pt x="1763790" y="1542064"/>
                  <a:pt x="1726873" y="1342749"/>
                </a:cubicBezTo>
                <a:cubicBezTo>
                  <a:pt x="1656484" y="963255"/>
                  <a:pt x="1345299" y="901114"/>
                  <a:pt x="1356831" y="612032"/>
                </a:cubicBezTo>
                <a:cubicBezTo>
                  <a:pt x="1365319" y="397180"/>
                  <a:pt x="1547578" y="171600"/>
                  <a:pt x="1773239" y="121551"/>
                </a:cubicBezTo>
                <a:cubicBezTo>
                  <a:pt x="1804789" y="114503"/>
                  <a:pt x="1837013" y="110980"/>
                  <a:pt x="1869333" y="110980"/>
                </a:cubicBezTo>
                <a:cubicBezTo>
                  <a:pt x="2087466" y="110980"/>
                  <a:pt x="2259155" y="271137"/>
                  <a:pt x="2312167" y="320866"/>
                </a:cubicBezTo>
                <a:cubicBezTo>
                  <a:pt x="2563133" y="555255"/>
                  <a:pt x="2364538" y="842498"/>
                  <a:pt x="2568899" y="1194363"/>
                </a:cubicBezTo>
                <a:cubicBezTo>
                  <a:pt x="2600650" y="1246494"/>
                  <a:pt x="2637078" y="1295662"/>
                  <a:pt x="2677726" y="1341226"/>
                </a:cubicBezTo>
                <a:cubicBezTo>
                  <a:pt x="2757804" y="1432276"/>
                  <a:pt x="2906990" y="1416261"/>
                  <a:pt x="2964327" y="1310316"/>
                </a:cubicBezTo>
                <a:cubicBezTo>
                  <a:pt x="3059059" y="1135183"/>
                  <a:pt x="3149628" y="938831"/>
                  <a:pt x="3333248" y="887741"/>
                </a:cubicBezTo>
                <a:cubicBezTo>
                  <a:pt x="3690239" y="788365"/>
                  <a:pt x="3902767" y="1378543"/>
                  <a:pt x="4272730" y="1307994"/>
                </a:cubicBezTo>
                <a:cubicBezTo>
                  <a:pt x="4426320" y="1278686"/>
                  <a:pt x="4515368" y="1152802"/>
                  <a:pt x="4596327" y="996810"/>
                </a:cubicBezTo>
                <a:cubicBezTo>
                  <a:pt x="4618829" y="953326"/>
                  <a:pt x="4640770" y="907521"/>
                  <a:pt x="4663272" y="860676"/>
                </a:cubicBezTo>
                <a:cubicBezTo>
                  <a:pt x="4732781" y="613153"/>
                  <a:pt x="4835282" y="115946"/>
                  <a:pt x="5572324" y="40189"/>
                </a:cubicBezTo>
                <a:cubicBezTo>
                  <a:pt x="5622910" y="31543"/>
                  <a:pt x="5674208" y="27859"/>
                  <a:pt x="5725514" y="29060"/>
                </a:cubicBezTo>
                <a:close/>
                <a:moveTo>
                  <a:pt x="4169348" y="793"/>
                </a:moveTo>
                <a:cubicBezTo>
                  <a:pt x="4219966" y="3995"/>
                  <a:pt x="4269734" y="15368"/>
                  <a:pt x="4316693" y="34505"/>
                </a:cubicBezTo>
                <a:cubicBezTo>
                  <a:pt x="4514808" y="114584"/>
                  <a:pt x="4637488" y="329676"/>
                  <a:pt x="4609540" y="547569"/>
                </a:cubicBezTo>
                <a:cubicBezTo>
                  <a:pt x="4568620" y="865801"/>
                  <a:pt x="4251108" y="1055907"/>
                  <a:pt x="3962986" y="935790"/>
                </a:cubicBezTo>
                <a:cubicBezTo>
                  <a:pt x="3762790" y="852028"/>
                  <a:pt x="3642672" y="631491"/>
                  <a:pt x="3676946" y="411355"/>
                </a:cubicBezTo>
                <a:cubicBezTo>
                  <a:pt x="3716424" y="155985"/>
                  <a:pt x="3934959" y="-13061"/>
                  <a:pt x="4169348" y="793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73A6D5-9FC9-EC0F-F03E-973D527E2981}"/>
              </a:ext>
            </a:extLst>
          </p:cNvPr>
          <p:cNvSpPr txBox="1"/>
          <p:nvPr/>
        </p:nvSpPr>
        <p:spPr>
          <a:xfrm>
            <a:off x="667160" y="5439285"/>
            <a:ext cx="2791851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Posterama"/>
                <a:cs typeface="Posterama"/>
              </a:rPr>
              <a:t>Сафин Нияз и Ившин Максим </a:t>
            </a:r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940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BE9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4BD21-FB9D-501F-E613-08D61C4D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DB90A081-B262-5C8B-ABE1-428D129E9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A3F17A-6443-FE17-B04A-D2E88E443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18D0E-2107-898B-FBC4-EBAAD9583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78" y="347628"/>
            <a:ext cx="4606456" cy="1154711"/>
          </a:xfrm>
        </p:spPr>
        <p:txBody>
          <a:bodyPr>
            <a:normAutofit/>
          </a:bodyPr>
          <a:lstStyle/>
          <a:p>
            <a:r>
              <a:rPr lang="ru-RU" sz="5400">
                <a:solidFill>
                  <a:schemeClr val="bg1"/>
                </a:solidFill>
                <a:cs typeface="Posterama"/>
              </a:rPr>
              <a:t>Тестировщик</a:t>
            </a:r>
            <a:endParaRPr lang="ru-RU" sz="5400" dirty="0">
              <a:solidFill>
                <a:schemeClr val="bg1"/>
              </a:solidFill>
              <a:cs typeface="Posterama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74572A-0643-79CF-74B1-E2A1B7FBB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475" y="1841010"/>
            <a:ext cx="4594537" cy="3174788"/>
          </a:xfrm>
        </p:spPr>
        <p:txBody>
          <a:bodyPr anchor="t">
            <a:normAutofit/>
          </a:bodyPr>
          <a:lstStyle/>
          <a:p>
            <a:r>
              <a:rPr lang="ru-RU">
                <a:solidFill>
                  <a:srgbClr val="FFFFFF"/>
                </a:solidFill>
                <a:latin typeface="Posterama"/>
                <a:cs typeface="Posterama"/>
              </a:rPr>
              <a:t>Тестировщик – это специалист, который проверяет программное обеспечение на соответствие заданным требованиям. Он ищет ошибки в работе программы, помогает исправить их и убеждается, что все работает корректно и без сбоев.</a:t>
            </a:r>
            <a:endParaRPr lang="ru-RU"/>
          </a:p>
        </p:txBody>
      </p:sp>
      <p:pic>
        <p:nvPicPr>
          <p:cNvPr id="5" name="Picture 3" descr="Изображение выглядит как инструмент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52A055-F36E-D2FD-85E1-B0830736F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02" r="15302"/>
          <a:stretch>
            <a:fillRect/>
          </a:stretch>
        </p:blipFill>
        <p:spPr>
          <a:xfrm>
            <a:off x="5879198" y="490264"/>
            <a:ext cx="6312802" cy="6367736"/>
          </a:xfrm>
          <a:custGeom>
            <a:avLst/>
            <a:gdLst/>
            <a:ahLst/>
            <a:cxnLst/>
            <a:rect l="l" t="t" r="r" b="b"/>
            <a:pathLst>
              <a:path w="6312802" h="6367736">
                <a:moveTo>
                  <a:pt x="789715" y="708127"/>
                </a:moveTo>
                <a:cubicBezTo>
                  <a:pt x="845978" y="711650"/>
                  <a:pt x="901296" y="724302"/>
                  <a:pt x="953475" y="745602"/>
                </a:cubicBezTo>
                <a:cubicBezTo>
                  <a:pt x="1173612" y="834890"/>
                  <a:pt x="1309905" y="1073925"/>
                  <a:pt x="1278834" y="1315681"/>
                </a:cubicBezTo>
                <a:cubicBezTo>
                  <a:pt x="1233750" y="1669869"/>
                  <a:pt x="880524" y="1881517"/>
                  <a:pt x="560369" y="1747304"/>
                </a:cubicBezTo>
                <a:cubicBezTo>
                  <a:pt x="338151" y="1654256"/>
                  <a:pt x="204742" y="1408974"/>
                  <a:pt x="242538" y="1164574"/>
                </a:cubicBezTo>
                <a:cubicBezTo>
                  <a:pt x="286421" y="880774"/>
                  <a:pt x="529219" y="692590"/>
                  <a:pt x="789715" y="708127"/>
                </a:cubicBezTo>
                <a:close/>
                <a:moveTo>
                  <a:pt x="2877121" y="364348"/>
                </a:moveTo>
                <a:cubicBezTo>
                  <a:pt x="2901561" y="365790"/>
                  <a:pt x="2925601" y="371235"/>
                  <a:pt x="2948310" y="380363"/>
                </a:cubicBezTo>
                <a:cubicBezTo>
                  <a:pt x="3044405" y="419202"/>
                  <a:pt x="3103503" y="523063"/>
                  <a:pt x="3089970" y="628607"/>
                </a:cubicBezTo>
                <a:cubicBezTo>
                  <a:pt x="3070190" y="782758"/>
                  <a:pt x="2916600" y="874848"/>
                  <a:pt x="2777343" y="816472"/>
                </a:cubicBezTo>
                <a:cubicBezTo>
                  <a:pt x="2680608" y="775952"/>
                  <a:pt x="2622552" y="669287"/>
                  <a:pt x="2639048" y="562863"/>
                </a:cubicBezTo>
                <a:cubicBezTo>
                  <a:pt x="2658106" y="439382"/>
                  <a:pt x="2763810" y="357542"/>
                  <a:pt x="2877121" y="364348"/>
                </a:cubicBezTo>
                <a:close/>
                <a:moveTo>
                  <a:pt x="5725514" y="29060"/>
                </a:moveTo>
                <a:lnTo>
                  <a:pt x="5748657" y="29701"/>
                </a:lnTo>
                <a:cubicBezTo>
                  <a:pt x="5935681" y="36387"/>
                  <a:pt x="6081789" y="65616"/>
                  <a:pt x="6194082" y="113315"/>
                </a:cubicBezTo>
                <a:lnTo>
                  <a:pt x="6312802" y="183322"/>
                </a:lnTo>
                <a:lnTo>
                  <a:pt x="6312802" y="6367736"/>
                </a:lnTo>
                <a:lnTo>
                  <a:pt x="3171877" y="6367736"/>
                </a:lnTo>
                <a:lnTo>
                  <a:pt x="3171635" y="6367591"/>
                </a:lnTo>
                <a:lnTo>
                  <a:pt x="2683232" y="6367591"/>
                </a:lnTo>
                <a:lnTo>
                  <a:pt x="2683031" y="6367736"/>
                </a:lnTo>
                <a:lnTo>
                  <a:pt x="1006759" y="6367736"/>
                </a:lnTo>
                <a:lnTo>
                  <a:pt x="1017798" y="6253705"/>
                </a:lnTo>
                <a:cubicBezTo>
                  <a:pt x="1043303" y="6019815"/>
                  <a:pt x="1065826" y="5776617"/>
                  <a:pt x="897420" y="5565130"/>
                </a:cubicBezTo>
                <a:cubicBezTo>
                  <a:pt x="700507" y="5318087"/>
                  <a:pt x="491822" y="5428997"/>
                  <a:pt x="271526" y="5130943"/>
                </a:cubicBezTo>
                <a:cubicBezTo>
                  <a:pt x="108646" y="4910648"/>
                  <a:pt x="-26366" y="4708290"/>
                  <a:pt x="39940" y="4415201"/>
                </a:cubicBezTo>
                <a:cubicBezTo>
                  <a:pt x="128666" y="4023216"/>
                  <a:pt x="467878" y="3870268"/>
                  <a:pt x="464356" y="3587268"/>
                </a:cubicBezTo>
                <a:cubicBezTo>
                  <a:pt x="460351" y="3247094"/>
                  <a:pt x="43943" y="3178950"/>
                  <a:pt x="3183" y="2791128"/>
                </a:cubicBezTo>
                <a:cubicBezTo>
                  <a:pt x="-23403" y="2538162"/>
                  <a:pt x="118896" y="2235225"/>
                  <a:pt x="343758" y="2095087"/>
                </a:cubicBezTo>
                <a:cubicBezTo>
                  <a:pt x="758163" y="1836512"/>
                  <a:pt x="1225342" y="2272862"/>
                  <a:pt x="1543093" y="2013487"/>
                </a:cubicBezTo>
                <a:cubicBezTo>
                  <a:pt x="1732879" y="1858534"/>
                  <a:pt x="1763790" y="1542064"/>
                  <a:pt x="1726873" y="1342749"/>
                </a:cubicBezTo>
                <a:cubicBezTo>
                  <a:pt x="1656484" y="963255"/>
                  <a:pt x="1345299" y="901114"/>
                  <a:pt x="1356831" y="612032"/>
                </a:cubicBezTo>
                <a:cubicBezTo>
                  <a:pt x="1365319" y="397180"/>
                  <a:pt x="1547578" y="171600"/>
                  <a:pt x="1773239" y="121551"/>
                </a:cubicBezTo>
                <a:cubicBezTo>
                  <a:pt x="1804789" y="114503"/>
                  <a:pt x="1837013" y="110980"/>
                  <a:pt x="1869333" y="110980"/>
                </a:cubicBezTo>
                <a:cubicBezTo>
                  <a:pt x="2087466" y="110980"/>
                  <a:pt x="2259155" y="271137"/>
                  <a:pt x="2312167" y="320866"/>
                </a:cubicBezTo>
                <a:cubicBezTo>
                  <a:pt x="2563133" y="555255"/>
                  <a:pt x="2364538" y="842498"/>
                  <a:pt x="2568899" y="1194363"/>
                </a:cubicBezTo>
                <a:cubicBezTo>
                  <a:pt x="2600650" y="1246494"/>
                  <a:pt x="2637078" y="1295662"/>
                  <a:pt x="2677726" y="1341226"/>
                </a:cubicBezTo>
                <a:cubicBezTo>
                  <a:pt x="2757804" y="1432276"/>
                  <a:pt x="2906990" y="1416261"/>
                  <a:pt x="2964327" y="1310316"/>
                </a:cubicBezTo>
                <a:cubicBezTo>
                  <a:pt x="3059059" y="1135183"/>
                  <a:pt x="3149628" y="938831"/>
                  <a:pt x="3333248" y="887741"/>
                </a:cubicBezTo>
                <a:cubicBezTo>
                  <a:pt x="3690239" y="788365"/>
                  <a:pt x="3902767" y="1378543"/>
                  <a:pt x="4272730" y="1307994"/>
                </a:cubicBezTo>
                <a:cubicBezTo>
                  <a:pt x="4426320" y="1278686"/>
                  <a:pt x="4515368" y="1152802"/>
                  <a:pt x="4596327" y="996810"/>
                </a:cubicBezTo>
                <a:cubicBezTo>
                  <a:pt x="4618829" y="953326"/>
                  <a:pt x="4640770" y="907521"/>
                  <a:pt x="4663272" y="860676"/>
                </a:cubicBezTo>
                <a:cubicBezTo>
                  <a:pt x="4732781" y="613153"/>
                  <a:pt x="4835282" y="115946"/>
                  <a:pt x="5572324" y="40189"/>
                </a:cubicBezTo>
                <a:cubicBezTo>
                  <a:pt x="5622910" y="31543"/>
                  <a:pt x="5674208" y="27859"/>
                  <a:pt x="5725514" y="29060"/>
                </a:cubicBezTo>
                <a:close/>
                <a:moveTo>
                  <a:pt x="4169348" y="793"/>
                </a:moveTo>
                <a:cubicBezTo>
                  <a:pt x="4219966" y="3995"/>
                  <a:pt x="4269734" y="15368"/>
                  <a:pt x="4316693" y="34505"/>
                </a:cubicBezTo>
                <a:cubicBezTo>
                  <a:pt x="4514808" y="114584"/>
                  <a:pt x="4637488" y="329676"/>
                  <a:pt x="4609540" y="547569"/>
                </a:cubicBezTo>
                <a:cubicBezTo>
                  <a:pt x="4568620" y="865801"/>
                  <a:pt x="4251108" y="1055907"/>
                  <a:pt x="3962986" y="935790"/>
                </a:cubicBezTo>
                <a:cubicBezTo>
                  <a:pt x="3762790" y="852028"/>
                  <a:pt x="3642672" y="631491"/>
                  <a:pt x="3676946" y="411355"/>
                </a:cubicBezTo>
                <a:cubicBezTo>
                  <a:pt x="3716424" y="155985"/>
                  <a:pt x="3934959" y="-13061"/>
                  <a:pt x="4169348" y="793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AE145C-5387-0D5C-C813-83A2F37599DE}"/>
              </a:ext>
            </a:extLst>
          </p:cNvPr>
          <p:cNvSpPr txBox="1"/>
          <p:nvPr/>
        </p:nvSpPr>
        <p:spPr>
          <a:xfrm>
            <a:off x="596266" y="5315242"/>
            <a:ext cx="2791851" cy="374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Posterama"/>
                <a:cs typeface="Posterama"/>
              </a:rPr>
              <a:t>Абдуллин Тимур </a:t>
            </a:r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424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85303E-1D59-4477-A849-22C7FEACD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D1AC7C-E2A3-99F6-0525-610B532EE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3"/>
            <a:ext cx="3901736" cy="99720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dirty="0" err="1">
                <a:solidFill>
                  <a:srgbClr val="FFFFFF"/>
                </a:solidFill>
                <a:cs typeface="Posterama"/>
              </a:rPr>
              <a:t>Итог</a:t>
            </a:r>
            <a:endParaRPr lang="en-US" sz="6000" dirty="0" err="1">
              <a:solidFill>
                <a:srgbClr val="FFFFFF"/>
              </a:solidFill>
            </a:endParaRPr>
          </a:p>
        </p:txBody>
      </p:sp>
      <p:pic>
        <p:nvPicPr>
          <p:cNvPr id="5" name="Picture 3" descr="Изображение выглядит как инструмент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DA8739-A4A9-8730-4815-0C8560E7A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069" r="13069" b="1"/>
          <a:stretch>
            <a:fillRect/>
          </a:stretch>
        </p:blipFill>
        <p:spPr>
          <a:xfrm>
            <a:off x="4955602" y="10"/>
            <a:ext cx="7236398" cy="6857990"/>
          </a:xfrm>
          <a:custGeom>
            <a:avLst/>
            <a:gdLst/>
            <a:ahLst/>
            <a:cxnLst/>
            <a:rect l="l" t="t" r="r" b="b"/>
            <a:pathLst>
              <a:path w="7726675" h="6858000">
                <a:moveTo>
                  <a:pt x="2975226" y="5978334"/>
                </a:moveTo>
                <a:cubicBezTo>
                  <a:pt x="3002582" y="5978928"/>
                  <a:pt x="3030286" y="5982273"/>
                  <a:pt x="3058007" y="5988576"/>
                </a:cubicBezTo>
                <a:cubicBezTo>
                  <a:pt x="3279778" y="6038998"/>
                  <a:pt x="3418684" y="6259656"/>
                  <a:pt x="3368261" y="6481427"/>
                </a:cubicBezTo>
                <a:cubicBezTo>
                  <a:pt x="3317839" y="6703198"/>
                  <a:pt x="3097182" y="6842104"/>
                  <a:pt x="2875410" y="6791681"/>
                </a:cubicBezTo>
                <a:cubicBezTo>
                  <a:pt x="2653640" y="6741259"/>
                  <a:pt x="2514734" y="6520601"/>
                  <a:pt x="2565157" y="6298830"/>
                </a:cubicBezTo>
                <a:cubicBezTo>
                  <a:pt x="2609276" y="6104780"/>
                  <a:pt x="2783732" y="5974174"/>
                  <a:pt x="2975226" y="5978334"/>
                </a:cubicBezTo>
                <a:close/>
                <a:moveTo>
                  <a:pt x="542891" y="1298362"/>
                </a:moveTo>
                <a:cubicBezTo>
                  <a:pt x="578216" y="1299129"/>
                  <a:pt x="613991" y="1303448"/>
                  <a:pt x="649789" y="1311587"/>
                </a:cubicBezTo>
                <a:cubicBezTo>
                  <a:pt x="936170" y="1376700"/>
                  <a:pt x="1115545" y="1661643"/>
                  <a:pt x="1050432" y="1948025"/>
                </a:cubicBezTo>
                <a:cubicBezTo>
                  <a:pt x="985319" y="2234407"/>
                  <a:pt x="700376" y="2413781"/>
                  <a:pt x="413995" y="2348669"/>
                </a:cubicBezTo>
                <a:cubicBezTo>
                  <a:pt x="127612" y="2283556"/>
                  <a:pt x="-51762" y="1998612"/>
                  <a:pt x="13351" y="1712231"/>
                </a:cubicBezTo>
                <a:cubicBezTo>
                  <a:pt x="70325" y="1461647"/>
                  <a:pt x="295606" y="1292990"/>
                  <a:pt x="542891" y="1298362"/>
                </a:cubicBezTo>
                <a:close/>
                <a:moveTo>
                  <a:pt x="362049" y="446831"/>
                </a:moveTo>
                <a:cubicBezTo>
                  <a:pt x="382746" y="447281"/>
                  <a:pt x="403706" y="449811"/>
                  <a:pt x="424679" y="454579"/>
                </a:cubicBezTo>
                <a:cubicBezTo>
                  <a:pt x="592463" y="492727"/>
                  <a:pt x="697554" y="659668"/>
                  <a:pt x="659405" y="827452"/>
                </a:cubicBezTo>
                <a:cubicBezTo>
                  <a:pt x="621257" y="995236"/>
                  <a:pt x="454318" y="1100327"/>
                  <a:pt x="286534" y="1062179"/>
                </a:cubicBezTo>
                <a:cubicBezTo>
                  <a:pt x="118749" y="1024031"/>
                  <a:pt x="13658" y="857091"/>
                  <a:pt x="51806" y="689306"/>
                </a:cubicBezTo>
                <a:cubicBezTo>
                  <a:pt x="85186" y="542495"/>
                  <a:pt x="217172" y="443684"/>
                  <a:pt x="362049" y="446831"/>
                </a:cubicBezTo>
                <a:close/>
                <a:moveTo>
                  <a:pt x="688320" y="0"/>
                </a:moveTo>
                <a:lnTo>
                  <a:pt x="5442022" y="0"/>
                </a:lnTo>
                <a:lnTo>
                  <a:pt x="7726675" y="0"/>
                </a:lnTo>
                <a:lnTo>
                  <a:pt x="7726675" y="988372"/>
                </a:lnTo>
                <a:lnTo>
                  <a:pt x="7726675" y="6858000"/>
                </a:lnTo>
                <a:lnTo>
                  <a:pt x="4265234" y="6858000"/>
                </a:lnTo>
                <a:lnTo>
                  <a:pt x="4167452" y="6648946"/>
                </a:lnTo>
                <a:cubicBezTo>
                  <a:pt x="4064668" y="6438534"/>
                  <a:pt x="3951418" y="6237194"/>
                  <a:pt x="3802376" y="6067515"/>
                </a:cubicBezTo>
                <a:cubicBezTo>
                  <a:pt x="3433898" y="5648543"/>
                  <a:pt x="2855445" y="5560200"/>
                  <a:pt x="2314714" y="5492960"/>
                </a:cubicBezTo>
                <a:cubicBezTo>
                  <a:pt x="1689319" y="5415368"/>
                  <a:pt x="1105502" y="5269445"/>
                  <a:pt x="626568" y="4822392"/>
                </a:cubicBezTo>
                <a:cubicBezTo>
                  <a:pt x="42544" y="4277286"/>
                  <a:pt x="59772" y="3691233"/>
                  <a:pt x="462831" y="3184007"/>
                </a:cubicBezTo>
                <a:cubicBezTo>
                  <a:pt x="688845" y="2899538"/>
                  <a:pt x="972083" y="2660548"/>
                  <a:pt x="1228189" y="2399566"/>
                </a:cubicBezTo>
                <a:cubicBezTo>
                  <a:pt x="1460698" y="2161897"/>
                  <a:pt x="1522193" y="1866062"/>
                  <a:pt x="1384674" y="1566341"/>
                </a:cubicBezTo>
                <a:cubicBezTo>
                  <a:pt x="1239184" y="1249484"/>
                  <a:pt x="1095206" y="930335"/>
                  <a:pt x="922279" y="628332"/>
                </a:cubicBezTo>
                <a:cubicBezTo>
                  <a:pt x="805583" y="424593"/>
                  <a:pt x="731712" y="225291"/>
                  <a:pt x="693729" y="33341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AA3BF8-7900-2B1E-EA66-D28B0890B6DB}"/>
              </a:ext>
            </a:extLst>
          </p:cNvPr>
          <p:cNvSpPr txBox="1"/>
          <p:nvPr/>
        </p:nvSpPr>
        <p:spPr>
          <a:xfrm>
            <a:off x="708036" y="1723913"/>
            <a:ext cx="3858282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/>
              <a:t> </a:t>
            </a:r>
            <a:r>
              <a:rPr lang="ru-RU" b="1" dirty="0">
                <a:latin typeface="Posterama"/>
                <a:cs typeface="Posterama"/>
              </a:rPr>
              <a:t>Каждый из нас попробовал себя в разных ролях, в итоге такой командной работы мы создали и модернизировали приложение, </a:t>
            </a:r>
            <a:r>
              <a:rPr lang="ru-RU" b="1">
                <a:latin typeface="Posterama"/>
                <a:cs typeface="Posterama"/>
              </a:rPr>
              <a:t>которое называется: </a:t>
            </a:r>
            <a:endParaRPr lang="ru-RU" b="1" dirty="0">
              <a:latin typeface="Posterama"/>
              <a:cs typeface="Posterama"/>
            </a:endParaRPr>
          </a:p>
          <a:p>
            <a:endParaRPr lang="ru-RU" dirty="0">
              <a:latin typeface="Posterama"/>
              <a:cs typeface="Posterama"/>
            </a:endParaRPr>
          </a:p>
          <a:p>
            <a:r>
              <a:rPr lang="ru-RU" sz="2800" b="1">
                <a:latin typeface="Posterama"/>
                <a:cs typeface="Posterama"/>
              </a:rPr>
              <a:t>«Система складского учёта 3.0»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224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E7994-4001-5ABD-ADF1-2956AF91C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0FEA5D-9FEC-8100-2913-08254DCFA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F266B8-E553-162F-43C9-33E22C96A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Background Fill">
            <a:extLst>
              <a:ext uri="{FF2B5EF4-FFF2-40B4-BE49-F238E27FC236}">
                <a16:creationId xmlns:a16="http://schemas.microsoft.com/office/drawing/2014/main" id="{8EDF2BD8-B1BD-51C8-9457-B9555B22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9BC204-3068-68B7-430A-118117E4F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F2DAD3-7CC1-C630-55FF-A673B407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18" y="569506"/>
            <a:ext cx="4517196" cy="240983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dirty="0" err="1">
                <a:solidFill>
                  <a:srgbClr val="FFFFFF"/>
                </a:solidFill>
                <a:cs typeface="Posterama"/>
              </a:rPr>
              <a:t>Почему</a:t>
            </a:r>
            <a:r>
              <a:rPr lang="en-US" sz="6000" dirty="0">
                <a:solidFill>
                  <a:srgbClr val="FFFFFF"/>
                </a:solidFill>
                <a:cs typeface="Posterama"/>
              </a:rPr>
              <a:t> </a:t>
            </a:r>
            <a:r>
              <a:rPr lang="en-US" sz="6000" dirty="0" err="1">
                <a:solidFill>
                  <a:srgbClr val="FFFFFF"/>
                </a:solidFill>
                <a:cs typeface="Posterama"/>
              </a:rPr>
              <a:t>именно</a:t>
            </a:r>
            <a:r>
              <a:rPr lang="en-US" sz="6000" dirty="0">
                <a:solidFill>
                  <a:srgbClr val="FFFFFF"/>
                </a:solidFill>
                <a:cs typeface="Posterama"/>
              </a:rPr>
              <a:t> </a:t>
            </a:r>
            <a:r>
              <a:rPr lang="en-US" sz="6000" dirty="0" err="1">
                <a:solidFill>
                  <a:srgbClr val="FFFFFF"/>
                </a:solidFill>
                <a:cs typeface="Posterama"/>
              </a:rPr>
              <a:t>наш</a:t>
            </a:r>
            <a:r>
              <a:rPr lang="en-US" sz="6000" dirty="0">
                <a:solidFill>
                  <a:srgbClr val="FFFFFF"/>
                </a:solidFill>
                <a:cs typeface="Posterama"/>
              </a:rPr>
              <a:t> </a:t>
            </a:r>
            <a:r>
              <a:rPr lang="en-US" sz="6000" dirty="0" err="1">
                <a:solidFill>
                  <a:srgbClr val="FFFFFF"/>
                </a:solidFill>
                <a:cs typeface="Posterama"/>
              </a:rPr>
              <a:t>проект</a:t>
            </a:r>
            <a:r>
              <a:rPr lang="en-US" sz="6000" dirty="0">
                <a:solidFill>
                  <a:srgbClr val="FFFFFF"/>
                </a:solidFill>
                <a:cs typeface="Posterama"/>
              </a:rPr>
              <a:t>?</a:t>
            </a:r>
          </a:p>
        </p:txBody>
      </p:sp>
      <p:pic>
        <p:nvPicPr>
          <p:cNvPr id="5" name="Picture 3" descr="Изображение выглядит как инструмент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7ACD96F-4576-2DAA-9046-1DF2DA248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069" r="13069" b="1"/>
          <a:stretch>
            <a:fillRect/>
          </a:stretch>
        </p:blipFill>
        <p:spPr>
          <a:xfrm>
            <a:off x="4955602" y="10"/>
            <a:ext cx="7236398" cy="6857990"/>
          </a:xfrm>
          <a:custGeom>
            <a:avLst/>
            <a:gdLst/>
            <a:ahLst/>
            <a:cxnLst/>
            <a:rect l="l" t="t" r="r" b="b"/>
            <a:pathLst>
              <a:path w="7726675" h="6858000">
                <a:moveTo>
                  <a:pt x="2975226" y="5978334"/>
                </a:moveTo>
                <a:cubicBezTo>
                  <a:pt x="3002582" y="5978928"/>
                  <a:pt x="3030286" y="5982273"/>
                  <a:pt x="3058007" y="5988576"/>
                </a:cubicBezTo>
                <a:cubicBezTo>
                  <a:pt x="3279778" y="6038998"/>
                  <a:pt x="3418684" y="6259656"/>
                  <a:pt x="3368261" y="6481427"/>
                </a:cubicBezTo>
                <a:cubicBezTo>
                  <a:pt x="3317839" y="6703198"/>
                  <a:pt x="3097182" y="6842104"/>
                  <a:pt x="2875410" y="6791681"/>
                </a:cubicBezTo>
                <a:cubicBezTo>
                  <a:pt x="2653640" y="6741259"/>
                  <a:pt x="2514734" y="6520601"/>
                  <a:pt x="2565157" y="6298830"/>
                </a:cubicBezTo>
                <a:cubicBezTo>
                  <a:pt x="2609276" y="6104780"/>
                  <a:pt x="2783732" y="5974174"/>
                  <a:pt x="2975226" y="5978334"/>
                </a:cubicBezTo>
                <a:close/>
                <a:moveTo>
                  <a:pt x="542891" y="1298362"/>
                </a:moveTo>
                <a:cubicBezTo>
                  <a:pt x="578216" y="1299129"/>
                  <a:pt x="613991" y="1303448"/>
                  <a:pt x="649789" y="1311587"/>
                </a:cubicBezTo>
                <a:cubicBezTo>
                  <a:pt x="936170" y="1376700"/>
                  <a:pt x="1115545" y="1661643"/>
                  <a:pt x="1050432" y="1948025"/>
                </a:cubicBezTo>
                <a:cubicBezTo>
                  <a:pt x="985319" y="2234407"/>
                  <a:pt x="700376" y="2413781"/>
                  <a:pt x="413995" y="2348669"/>
                </a:cubicBezTo>
                <a:cubicBezTo>
                  <a:pt x="127612" y="2283556"/>
                  <a:pt x="-51762" y="1998612"/>
                  <a:pt x="13351" y="1712231"/>
                </a:cubicBezTo>
                <a:cubicBezTo>
                  <a:pt x="70325" y="1461647"/>
                  <a:pt x="295606" y="1292990"/>
                  <a:pt x="542891" y="1298362"/>
                </a:cubicBezTo>
                <a:close/>
                <a:moveTo>
                  <a:pt x="362049" y="446831"/>
                </a:moveTo>
                <a:cubicBezTo>
                  <a:pt x="382746" y="447281"/>
                  <a:pt x="403706" y="449811"/>
                  <a:pt x="424679" y="454579"/>
                </a:cubicBezTo>
                <a:cubicBezTo>
                  <a:pt x="592463" y="492727"/>
                  <a:pt x="697554" y="659668"/>
                  <a:pt x="659405" y="827452"/>
                </a:cubicBezTo>
                <a:cubicBezTo>
                  <a:pt x="621257" y="995236"/>
                  <a:pt x="454318" y="1100327"/>
                  <a:pt x="286534" y="1062179"/>
                </a:cubicBezTo>
                <a:cubicBezTo>
                  <a:pt x="118749" y="1024031"/>
                  <a:pt x="13658" y="857091"/>
                  <a:pt x="51806" y="689306"/>
                </a:cubicBezTo>
                <a:cubicBezTo>
                  <a:pt x="85186" y="542495"/>
                  <a:pt x="217172" y="443684"/>
                  <a:pt x="362049" y="446831"/>
                </a:cubicBezTo>
                <a:close/>
                <a:moveTo>
                  <a:pt x="688320" y="0"/>
                </a:moveTo>
                <a:lnTo>
                  <a:pt x="5442022" y="0"/>
                </a:lnTo>
                <a:lnTo>
                  <a:pt x="7726675" y="0"/>
                </a:lnTo>
                <a:lnTo>
                  <a:pt x="7726675" y="988372"/>
                </a:lnTo>
                <a:lnTo>
                  <a:pt x="7726675" y="6858000"/>
                </a:lnTo>
                <a:lnTo>
                  <a:pt x="4265234" y="6858000"/>
                </a:lnTo>
                <a:lnTo>
                  <a:pt x="4167452" y="6648946"/>
                </a:lnTo>
                <a:cubicBezTo>
                  <a:pt x="4064668" y="6438534"/>
                  <a:pt x="3951418" y="6237194"/>
                  <a:pt x="3802376" y="6067515"/>
                </a:cubicBezTo>
                <a:cubicBezTo>
                  <a:pt x="3433898" y="5648543"/>
                  <a:pt x="2855445" y="5560200"/>
                  <a:pt x="2314714" y="5492960"/>
                </a:cubicBezTo>
                <a:cubicBezTo>
                  <a:pt x="1689319" y="5415368"/>
                  <a:pt x="1105502" y="5269445"/>
                  <a:pt x="626568" y="4822392"/>
                </a:cubicBezTo>
                <a:cubicBezTo>
                  <a:pt x="42544" y="4277286"/>
                  <a:pt x="59772" y="3691233"/>
                  <a:pt x="462831" y="3184007"/>
                </a:cubicBezTo>
                <a:cubicBezTo>
                  <a:pt x="688845" y="2899538"/>
                  <a:pt x="972083" y="2660548"/>
                  <a:pt x="1228189" y="2399566"/>
                </a:cubicBezTo>
                <a:cubicBezTo>
                  <a:pt x="1460698" y="2161897"/>
                  <a:pt x="1522193" y="1866062"/>
                  <a:pt x="1384674" y="1566341"/>
                </a:cubicBezTo>
                <a:cubicBezTo>
                  <a:pt x="1239184" y="1249484"/>
                  <a:pt x="1095206" y="930335"/>
                  <a:pt x="922279" y="628332"/>
                </a:cubicBezTo>
                <a:cubicBezTo>
                  <a:pt x="805583" y="424593"/>
                  <a:pt x="731712" y="225291"/>
                  <a:pt x="693729" y="33341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D3CE8A-747B-5065-E699-AF6EC3CFAE59}"/>
              </a:ext>
            </a:extLst>
          </p:cNvPr>
          <p:cNvSpPr txBox="1"/>
          <p:nvPr/>
        </p:nvSpPr>
        <p:spPr>
          <a:xfrm>
            <a:off x="268421" y="3734421"/>
            <a:ext cx="4632005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ru-RU" sz="2000" b="1">
                <a:latin typeface="Posterama"/>
                <a:cs typeface="Posterama"/>
              </a:rPr>
              <a:t>У нас в команде есть Senior VibeCoder!</a:t>
            </a:r>
          </a:p>
          <a:p>
            <a:pPr marL="342900" indent="-342900">
              <a:buAutoNum type="arabicPeriod"/>
            </a:pPr>
            <a:r>
              <a:rPr lang="ru-RU" sz="2000" b="1">
                <a:latin typeface="Posterama"/>
                <a:cs typeface="Posterama"/>
              </a:rPr>
              <a:t>У нас очень интересный дизайн приложения!</a:t>
            </a:r>
          </a:p>
          <a:p>
            <a:pPr marL="342900" indent="-342900">
              <a:buAutoNum type="arabicPeriod"/>
            </a:pPr>
            <a:r>
              <a:rPr lang="ru-RU" sz="2000" b="1">
                <a:latin typeface="Posterama"/>
                <a:cs typeface="Posterama"/>
              </a:rPr>
              <a:t>У нас самый простой и интуитивно понятный интерфейс приложения!</a:t>
            </a:r>
          </a:p>
        </p:txBody>
      </p:sp>
    </p:spTree>
    <p:extLst>
      <p:ext uri="{BB962C8B-B14F-4D97-AF65-F5344CB8AC3E}">
        <p14:creationId xmlns:p14="http://schemas.microsoft.com/office/powerpoint/2010/main" val="2994125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BE9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7F601-5982-A232-4219-6F8AD5BB9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1BBD2-847B-62F4-3C8F-15AC1EFB9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074" y="552782"/>
            <a:ext cx="5149326" cy="1819510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5400" dirty="0" err="1">
                <a:solidFill>
                  <a:schemeClr val="bg1"/>
                </a:solidFill>
                <a:cs typeface="Posterama"/>
              </a:rPr>
              <a:t>Спасибо</a:t>
            </a:r>
            <a:r>
              <a:rPr lang="en-US" sz="5400" dirty="0">
                <a:solidFill>
                  <a:schemeClr val="bg1"/>
                </a:solidFill>
                <a:cs typeface="Posterama"/>
              </a:rPr>
              <a:t> </a:t>
            </a:r>
            <a:r>
              <a:rPr lang="en-US" sz="5400" dirty="0" err="1">
                <a:solidFill>
                  <a:schemeClr val="bg1"/>
                </a:solidFill>
                <a:cs typeface="Posterama"/>
              </a:rPr>
              <a:t>за</a:t>
            </a:r>
            <a:r>
              <a:rPr lang="en-US" sz="5400" dirty="0">
                <a:solidFill>
                  <a:schemeClr val="bg1"/>
                </a:solidFill>
                <a:cs typeface="Posterama"/>
              </a:rPr>
              <a:t> </a:t>
            </a:r>
            <a:r>
              <a:rPr lang="en-US" sz="5400" dirty="0" err="1">
                <a:solidFill>
                  <a:schemeClr val="bg1"/>
                </a:solidFill>
                <a:cs typeface="Posterama"/>
              </a:rPr>
              <a:t>внимание</a:t>
            </a:r>
            <a:r>
              <a:rPr lang="en-US" sz="5400" dirty="0">
                <a:solidFill>
                  <a:schemeClr val="bg1"/>
                </a:solidFill>
                <a:cs typeface="Posterama"/>
              </a:rPr>
              <a:t>!</a:t>
            </a:r>
            <a:endParaRPr lang="en-US" sz="5400" kern="1200" dirty="0">
              <a:solidFill>
                <a:schemeClr val="bg1"/>
              </a:solidFill>
              <a:latin typeface="+mj-lt"/>
              <a:cs typeface="Posterama"/>
            </a:endParaRPr>
          </a:p>
        </p:txBody>
      </p:sp>
      <p:pic>
        <p:nvPicPr>
          <p:cNvPr id="7" name="Объект 6" descr="Изображение выглядит как инструмент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559A8A-CE7C-AE98-79F6-8ADFF631E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327" r="-2" b="-2"/>
          <a:stretch>
            <a:fillRect/>
          </a:stretch>
        </p:blipFill>
        <p:spPr>
          <a:xfrm>
            <a:off x="2" y="10"/>
            <a:ext cx="6164130" cy="5529421"/>
          </a:xfrm>
          <a:custGeom>
            <a:avLst/>
            <a:gdLst/>
            <a:ahLst/>
            <a:cxnLst/>
            <a:rect l="l" t="t" r="r" b="b"/>
            <a:pathLst>
              <a:path w="6972657" h="6356349">
                <a:moveTo>
                  <a:pt x="4162425" y="4810724"/>
                </a:moveTo>
                <a:cubicBezTo>
                  <a:pt x="4508954" y="4810724"/>
                  <a:pt x="4789872" y="5103559"/>
                  <a:pt x="4789872" y="5464789"/>
                </a:cubicBezTo>
                <a:cubicBezTo>
                  <a:pt x="4789872" y="5826019"/>
                  <a:pt x="4508954" y="6118855"/>
                  <a:pt x="4162425" y="6118855"/>
                </a:cubicBezTo>
                <a:cubicBezTo>
                  <a:pt x="3815896" y="6118855"/>
                  <a:pt x="3534978" y="5826019"/>
                  <a:pt x="3534978" y="5464789"/>
                </a:cubicBezTo>
                <a:cubicBezTo>
                  <a:pt x="3534978" y="5103559"/>
                  <a:pt x="3815896" y="4810724"/>
                  <a:pt x="4162425" y="4810724"/>
                </a:cubicBezTo>
                <a:close/>
                <a:moveTo>
                  <a:pt x="92101" y="4731176"/>
                </a:moveTo>
                <a:cubicBezTo>
                  <a:pt x="540880" y="4731176"/>
                  <a:pt x="904688" y="5094984"/>
                  <a:pt x="904688" y="5543763"/>
                </a:cubicBezTo>
                <a:cubicBezTo>
                  <a:pt x="904688" y="5964494"/>
                  <a:pt x="584935" y="6310542"/>
                  <a:pt x="175183" y="6352155"/>
                </a:cubicBezTo>
                <a:lnTo>
                  <a:pt x="92121" y="6356349"/>
                </a:lnTo>
                <a:lnTo>
                  <a:pt x="92081" y="6356349"/>
                </a:lnTo>
                <a:lnTo>
                  <a:pt x="9019" y="6352155"/>
                </a:lnTo>
                <a:lnTo>
                  <a:pt x="4079" y="6351401"/>
                </a:lnTo>
                <a:lnTo>
                  <a:pt x="0" y="6352492"/>
                </a:lnTo>
                <a:lnTo>
                  <a:pt x="0" y="4736748"/>
                </a:lnTo>
                <a:lnTo>
                  <a:pt x="9019" y="4735372"/>
                </a:lnTo>
                <a:cubicBezTo>
                  <a:pt x="36336" y="4732597"/>
                  <a:pt x="64052" y="4731176"/>
                  <a:pt x="92101" y="4731176"/>
                </a:cubicBezTo>
                <a:close/>
                <a:moveTo>
                  <a:pt x="6385770" y="2098604"/>
                </a:moveTo>
                <a:cubicBezTo>
                  <a:pt x="6543907" y="2107100"/>
                  <a:pt x="6698935" y="2178483"/>
                  <a:pt x="6813407" y="2310776"/>
                </a:cubicBezTo>
                <a:cubicBezTo>
                  <a:pt x="7042252" y="2575278"/>
                  <a:pt x="7022052" y="2983098"/>
                  <a:pt x="6768322" y="3221698"/>
                </a:cubicBezTo>
                <a:cubicBezTo>
                  <a:pt x="6718815" y="3268040"/>
                  <a:pt x="6662527" y="3305861"/>
                  <a:pt x="6601629" y="3333787"/>
                </a:cubicBezTo>
                <a:cubicBezTo>
                  <a:pt x="6357584" y="3444872"/>
                  <a:pt x="6072796" y="3380857"/>
                  <a:pt x="5894479" y="3174765"/>
                </a:cubicBezTo>
                <a:cubicBezTo>
                  <a:pt x="5665537" y="2910180"/>
                  <a:pt x="5685739" y="2502359"/>
                  <a:pt x="5939476" y="2263752"/>
                </a:cubicBezTo>
                <a:cubicBezTo>
                  <a:pt x="6066385" y="2144498"/>
                  <a:pt x="6227633" y="2090107"/>
                  <a:pt x="6385770" y="2098604"/>
                </a:cubicBezTo>
                <a:close/>
                <a:moveTo>
                  <a:pt x="0" y="0"/>
                </a:moveTo>
                <a:lnTo>
                  <a:pt x="5609109" y="0"/>
                </a:lnTo>
                <a:lnTo>
                  <a:pt x="5710855" y="100163"/>
                </a:lnTo>
                <a:cubicBezTo>
                  <a:pt x="5940043" y="363896"/>
                  <a:pt x="6060564" y="781193"/>
                  <a:pt x="5983550" y="1133306"/>
                </a:cubicBezTo>
                <a:cubicBezTo>
                  <a:pt x="5820740" y="1874471"/>
                  <a:pt x="4868226" y="1916819"/>
                  <a:pt x="4807924" y="2551785"/>
                </a:cubicBezTo>
                <a:cubicBezTo>
                  <a:pt x="4772098" y="2931077"/>
                  <a:pt x="5073952" y="3310271"/>
                  <a:pt x="5323480" y="3486493"/>
                </a:cubicBezTo>
                <a:cubicBezTo>
                  <a:pt x="5798207" y="3822498"/>
                  <a:pt x="6190925" y="3545085"/>
                  <a:pt x="6484693" y="3873055"/>
                </a:cubicBezTo>
                <a:cubicBezTo>
                  <a:pt x="6702769" y="4116667"/>
                  <a:pt x="6749067" y="4564067"/>
                  <a:pt x="6564699" y="4869471"/>
                </a:cubicBezTo>
                <a:cubicBezTo>
                  <a:pt x="6538929" y="4912110"/>
                  <a:pt x="6508772" y="4951720"/>
                  <a:pt x="6474766" y="4987555"/>
                </a:cubicBezTo>
                <a:lnTo>
                  <a:pt x="6475634" y="4987552"/>
                </a:lnTo>
                <a:cubicBezTo>
                  <a:pt x="6246183" y="5229347"/>
                  <a:pt x="5896158" y="5245005"/>
                  <a:pt x="5787911" y="5249784"/>
                </a:cubicBezTo>
                <a:cubicBezTo>
                  <a:pt x="5276208" y="5272608"/>
                  <a:pt x="5181583" y="4739335"/>
                  <a:pt x="4594647" y="4582595"/>
                </a:cubicBezTo>
                <a:cubicBezTo>
                  <a:pt x="4553401" y="4571414"/>
                  <a:pt x="4047262" y="4444111"/>
                  <a:pt x="3576692" y="4689896"/>
                </a:cubicBezTo>
                <a:cubicBezTo>
                  <a:pt x="2903508" y="5041365"/>
                  <a:pt x="3035835" y="5772616"/>
                  <a:pt x="2439534" y="6019748"/>
                </a:cubicBezTo>
                <a:cubicBezTo>
                  <a:pt x="2062607" y="6175963"/>
                  <a:pt x="1545662" y="6076257"/>
                  <a:pt x="1262869" y="5786450"/>
                </a:cubicBezTo>
                <a:cubicBezTo>
                  <a:pt x="864056" y="5377550"/>
                  <a:pt x="1125562" y="4799418"/>
                  <a:pt x="734842" y="4526254"/>
                </a:cubicBezTo>
                <a:cubicBezTo>
                  <a:pt x="506361" y="4366061"/>
                  <a:pt x="192715" y="4446641"/>
                  <a:pt x="19856" y="4511293"/>
                </a:cubicBezTo>
                <a:lnTo>
                  <a:pt x="0" y="4519330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CA7B03-E531-3DBC-22AA-F7058C03FC01}"/>
              </a:ext>
            </a:extLst>
          </p:cNvPr>
          <p:cNvSpPr txBox="1"/>
          <p:nvPr/>
        </p:nvSpPr>
        <p:spPr>
          <a:xfrm>
            <a:off x="6093105" y="2887629"/>
            <a:ext cx="5149326" cy="100406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>
              <a:lnSpc>
                <a:spcPct val="110000"/>
              </a:lnSpc>
              <a:spcAft>
                <a:spcPts val="600"/>
              </a:spcAft>
              <a:buClr>
                <a:schemeClr val="accent5"/>
              </a:buClr>
            </a:pPr>
            <a:r>
              <a:rPr lang="en-US" b="1" dirty="0">
                <a:solidFill>
                  <a:schemeClr val="bg1"/>
                </a:solidFill>
                <a:latin typeface="Posterama"/>
                <a:cs typeface="Posterama"/>
              </a:rPr>
              <a:t>А </a:t>
            </a:r>
            <a:r>
              <a:rPr lang="en-US" b="1" dirty="0" err="1">
                <a:solidFill>
                  <a:schemeClr val="bg1"/>
                </a:solidFill>
                <a:latin typeface="Posterama"/>
                <a:cs typeface="Posterama"/>
              </a:rPr>
              <a:t>теперь</a:t>
            </a:r>
            <a:r>
              <a:rPr lang="en-US" b="1" dirty="0">
                <a:solidFill>
                  <a:schemeClr val="bg1"/>
                </a:solidFill>
                <a:latin typeface="Posterama"/>
                <a:cs typeface="Posterama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Posterama"/>
                <a:cs typeface="Posterama"/>
              </a:rPr>
              <a:t>переходим</a:t>
            </a:r>
            <a:r>
              <a:rPr lang="en-US" b="1" dirty="0">
                <a:solidFill>
                  <a:schemeClr val="bg1"/>
                </a:solidFill>
                <a:latin typeface="Posterama"/>
                <a:cs typeface="Posterama"/>
              </a:rPr>
              <a:t> к </a:t>
            </a:r>
            <a:r>
              <a:rPr lang="en-US" b="1" dirty="0" err="1">
                <a:solidFill>
                  <a:schemeClr val="bg1"/>
                </a:solidFill>
                <a:latin typeface="Posterama"/>
                <a:cs typeface="Posterama"/>
              </a:rPr>
              <a:t>демонстрации</a:t>
            </a:r>
            <a:r>
              <a:rPr lang="en-US" b="1" dirty="0">
                <a:solidFill>
                  <a:schemeClr val="bg1"/>
                </a:solidFill>
                <a:latin typeface="Posterama"/>
                <a:cs typeface="Posterama"/>
              </a:rPr>
              <a:t> </a:t>
            </a:r>
            <a:r>
              <a:rPr lang="en-US" b="1" dirty="0" err="1">
                <a:solidFill>
                  <a:schemeClr val="bg1"/>
                </a:solidFill>
                <a:latin typeface="Posterama"/>
                <a:cs typeface="Posterama"/>
              </a:rPr>
              <a:t>нашего</a:t>
            </a:r>
            <a:r>
              <a:rPr lang="en-US" b="1" dirty="0">
                <a:solidFill>
                  <a:schemeClr val="bg1"/>
                </a:solidFill>
                <a:latin typeface="Posterama"/>
                <a:cs typeface="Posterama"/>
              </a:rPr>
              <a:t> </a:t>
            </a:r>
            <a:r>
              <a:rPr lang="en-US" b="1" dirty="0" err="1">
                <a:solidFill>
                  <a:schemeClr val="bg1"/>
                </a:solidFill>
                <a:latin typeface="Posterama"/>
                <a:cs typeface="Posterama"/>
              </a:rPr>
              <a:t>приложения</a:t>
            </a:r>
            <a:endParaRPr lang="en-US" b="1" dirty="0">
              <a:solidFill>
                <a:schemeClr val="bg1"/>
              </a:solidFill>
              <a:latin typeface="Posterama"/>
              <a:cs typeface="Posterama"/>
            </a:endParaRPr>
          </a:p>
          <a:p>
            <a:pPr marL="342900">
              <a:lnSpc>
                <a:spcPct val="110000"/>
              </a:lnSpc>
              <a:spcAft>
                <a:spcPts val="600"/>
              </a:spcAft>
            </a:pPr>
            <a:endParaRPr lang="en-US" b="1" dirty="0">
              <a:solidFill>
                <a:schemeClr val="bg1"/>
              </a:solidFill>
              <a:latin typeface="Posterama"/>
              <a:cs typeface="Posterama"/>
            </a:endParaRPr>
          </a:p>
          <a:p>
            <a:pPr marL="342900">
              <a:lnSpc>
                <a:spcPct val="110000"/>
              </a:lnSpc>
              <a:spcAft>
                <a:spcPts val="600"/>
              </a:spcAft>
            </a:pPr>
            <a:endParaRPr lang="en-US" b="1" dirty="0">
              <a:solidFill>
                <a:schemeClr val="bg1"/>
              </a:solidFill>
              <a:latin typeface="Posterama"/>
              <a:cs typeface="Posterama"/>
            </a:endParaRPr>
          </a:p>
          <a:p>
            <a:pPr marL="342900">
              <a:lnSpc>
                <a:spcPct val="110000"/>
              </a:lnSpc>
              <a:spcAft>
                <a:spcPts val="600"/>
              </a:spcAft>
            </a:pPr>
            <a:endParaRPr lang="en-US" b="1" dirty="0">
              <a:solidFill>
                <a:schemeClr val="bg1"/>
              </a:solidFill>
              <a:latin typeface="Posterama"/>
              <a:cs typeface="Posterama"/>
            </a:endParaRPr>
          </a:p>
          <a:p>
            <a:pPr marL="342900">
              <a:lnSpc>
                <a:spcPct val="110000"/>
              </a:lnSpc>
              <a:spcAft>
                <a:spcPts val="600"/>
              </a:spcAft>
            </a:pPr>
            <a:endParaRPr lang="en-US" b="1" dirty="0">
              <a:solidFill>
                <a:schemeClr val="bg1"/>
              </a:solidFill>
              <a:latin typeface="Posterama"/>
              <a:cs typeface="Posterama"/>
            </a:endParaRPr>
          </a:p>
          <a:p>
            <a:pPr marL="342900">
              <a:lnSpc>
                <a:spcPct val="110000"/>
              </a:lnSpc>
              <a:spcAft>
                <a:spcPts val="600"/>
              </a:spcAft>
            </a:pPr>
            <a:endParaRPr lang="en-US" b="1" dirty="0">
              <a:solidFill>
                <a:schemeClr val="bg1"/>
              </a:solidFill>
              <a:latin typeface="Posterama"/>
              <a:cs typeface="Posterama"/>
            </a:endParaRPr>
          </a:p>
          <a:p>
            <a:pPr marL="342900">
              <a:lnSpc>
                <a:spcPct val="110000"/>
              </a:lnSpc>
              <a:spcAft>
                <a:spcPts val="600"/>
              </a:spcAft>
            </a:pPr>
            <a:endParaRPr lang="ru-RU" sz="2000" b="1" dirty="0">
              <a:solidFill>
                <a:schemeClr val="bg1"/>
              </a:solidFill>
              <a:latin typeface="Posterama"/>
              <a:cs typeface="Posteram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CBB10-08EE-ABF7-C6F8-D8858343908A}"/>
              </a:ext>
            </a:extLst>
          </p:cNvPr>
          <p:cNvSpPr txBox="1"/>
          <p:nvPr/>
        </p:nvSpPr>
        <p:spPr>
          <a:xfrm>
            <a:off x="677251" y="6300493"/>
            <a:ext cx="10743675" cy="384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900" b="1" dirty="0">
                <a:solidFill>
                  <a:schemeClr val="bg1"/>
                </a:solidFill>
                <a:latin typeface="Posterama"/>
                <a:cs typeface="Posterama"/>
              </a:rPr>
              <a:t>(Перед </a:t>
            </a:r>
            <a:r>
              <a:rPr lang="en-US" sz="1900" b="1" dirty="0" err="1">
                <a:solidFill>
                  <a:schemeClr val="bg1"/>
                </a:solidFill>
                <a:latin typeface="Posterama"/>
                <a:cs typeface="Posterama"/>
              </a:rPr>
              <a:t>тем</a:t>
            </a:r>
            <a:r>
              <a:rPr lang="en-US" sz="1900" b="1" dirty="0">
                <a:solidFill>
                  <a:schemeClr val="bg1"/>
                </a:solidFill>
                <a:latin typeface="Posterama"/>
                <a:cs typeface="Posterama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Posterama"/>
                <a:cs typeface="Posterama"/>
              </a:rPr>
              <a:t>как</a:t>
            </a:r>
            <a:r>
              <a:rPr lang="en-US" sz="1900" b="1" dirty="0">
                <a:solidFill>
                  <a:schemeClr val="bg1"/>
                </a:solidFill>
                <a:latin typeface="Posterama"/>
                <a:cs typeface="Posterama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Posterama"/>
                <a:cs typeface="Posterama"/>
              </a:rPr>
              <a:t>ставить</a:t>
            </a:r>
            <a:r>
              <a:rPr lang="en-US" sz="1900" b="1" dirty="0">
                <a:solidFill>
                  <a:schemeClr val="bg1"/>
                </a:solidFill>
                <a:latin typeface="Posterama"/>
                <a:cs typeface="Posterama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Posterama"/>
                <a:cs typeface="Posterama"/>
              </a:rPr>
              <a:t>баллы</a:t>
            </a:r>
            <a:r>
              <a:rPr lang="en-US" sz="1900" b="1" dirty="0">
                <a:solidFill>
                  <a:schemeClr val="bg1"/>
                </a:solidFill>
                <a:latin typeface="Posterama"/>
                <a:cs typeface="Posterama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Posterama"/>
                <a:cs typeface="Posterama"/>
              </a:rPr>
              <a:t>помните</a:t>
            </a:r>
            <a:r>
              <a:rPr lang="en-US" sz="1900" b="1" dirty="0">
                <a:solidFill>
                  <a:schemeClr val="bg1"/>
                </a:solidFill>
                <a:latin typeface="Posterama"/>
                <a:cs typeface="Posterama"/>
              </a:rPr>
              <a:t>, </a:t>
            </a:r>
            <a:r>
              <a:rPr lang="en-US" sz="1900" b="1" dirty="0" err="1">
                <a:solidFill>
                  <a:schemeClr val="bg1"/>
                </a:solidFill>
                <a:latin typeface="Posterama"/>
                <a:cs typeface="Posterama"/>
              </a:rPr>
              <a:t>что</a:t>
            </a:r>
            <a:r>
              <a:rPr lang="en-US" sz="1900" b="1" dirty="0">
                <a:solidFill>
                  <a:schemeClr val="bg1"/>
                </a:solidFill>
                <a:latin typeface="Posterama"/>
                <a:cs typeface="Posterama"/>
              </a:rPr>
              <a:t> у </a:t>
            </a:r>
            <a:r>
              <a:rPr lang="en-US" sz="1900" b="1" dirty="0" err="1">
                <a:solidFill>
                  <a:schemeClr val="bg1"/>
                </a:solidFill>
                <a:latin typeface="Posterama"/>
                <a:cs typeface="Posterama"/>
              </a:rPr>
              <a:t>нас</a:t>
            </a:r>
            <a:r>
              <a:rPr lang="en-US" sz="1900" b="1" dirty="0">
                <a:solidFill>
                  <a:schemeClr val="bg1"/>
                </a:solidFill>
                <a:latin typeface="Posterama"/>
                <a:cs typeface="Posterama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Posterama"/>
                <a:cs typeface="Posterama"/>
              </a:rPr>
              <a:t>есть</a:t>
            </a:r>
            <a:r>
              <a:rPr lang="en-US" sz="1900" b="1" dirty="0">
                <a:solidFill>
                  <a:schemeClr val="bg1"/>
                </a:solidFill>
                <a:latin typeface="Posterama"/>
                <a:cs typeface="Posterama"/>
              </a:rPr>
              <a:t> </a:t>
            </a:r>
            <a:r>
              <a:rPr lang="ru-RU" sz="1900" b="1" dirty="0">
                <a:solidFill>
                  <a:schemeClr val="bg1"/>
                </a:solidFill>
                <a:latin typeface="Posterama"/>
                <a:cs typeface="Posterama"/>
              </a:rPr>
              <a:t>Senior VibeCoder!)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554534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SplashVTI</vt:lpstr>
      <vt:lpstr>Проект №3 </vt:lpstr>
      <vt:lpstr>Введение</vt:lpstr>
      <vt:lpstr>Цель: </vt:lpstr>
      <vt:lpstr>Состав команды</vt:lpstr>
      <vt:lpstr>Аналитик</vt:lpstr>
      <vt:lpstr>Разработчик</vt:lpstr>
      <vt:lpstr>Тестировщик</vt:lpstr>
      <vt:lpstr>Итог</vt:lpstr>
      <vt:lpstr>Почему именно наш проект?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331</cp:revision>
  <dcterms:created xsi:type="dcterms:W3CDTF">2026-05-29T15:04:34Z</dcterms:created>
  <dcterms:modified xsi:type="dcterms:W3CDTF">2026-05-29T16:49:16Z</dcterms:modified>
</cp:coreProperties>
</file>